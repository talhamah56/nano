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(30 s). Hello. Our project takes a small program that trains a language model, finds the slowest pieces that run on the GPU, rewrites them by hand, and then reads the machine code the compiler produces, for NVIDIA and for AMD GPUs. This is the first of two presentations: today is what we are doing and the first results; the second one (December 17) is the final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(1 min). nanochat is a small, complete program that trains a GPT-style language model on one GPU. Almost all of its time goes into a few kinds of GPU operations. Today PyTorch runs these either one at a time (eager) or fused automatically by torch.compile. Our question: can hand-written kernels beat both, and what does the machine code tell us about why? We go all the way down: PyTorch, Triton, CUDA, HIP, and finally the instructions: PTX and SASS for NVIDIA, and AMDGCN for AMD.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(1 min). Honest status of the plan. The proposal named a V100 cluster as the main GPU. We cannot reach it from our allocation, so we use DeltaAI at NCSA: one GH200, an H100-class GPU. For AMD, DeltaAI has no AMD GPUs, so we already compile our kernels for three AMD chips and analyse the instructions without running them (static). Last week we confirmed access to NCSA Delta, which has MI100 and MI210 GPUs, so we can also measure on real AMD hardware. That node is in maintenance right now, so the measured AMD numbers are for the second presentation. Question you may get: why not DARWIN? Answer: we dropped it; everything is on NCSA systems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TALHA or HAMZA (1 min). The method is a ladder. L0 is plain eager PyTorch. L1 is torch.compile. L2 is our Triton kernel. L3 is CUDA. L4 is HIP, the AMD version of CUDA. L5 is reading the instructions the compiler produced. Every kernel has to pass a correctness gate against a 64-bit reference before we are allowed to time it, and every timing uses GPU events, flushes the cache, and repeats in three separate processes with confidence intervals. That is how we make sure a speedup is real. Three kernels are on this ladder already: RMSNorm, QK-norm with RoPE, and softcap with cross-entropy.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TALHA or HAMZA (1.3 min). This is the baseline we have to beat. We train a 12-layer model, one GPU, bf16. Stock nanochat with torch.compile and FlashAttention-3 takes 8.05 seconds per 100 steps; eager PyTorch takes 15.08 seconds. So compile already gives about 1.9 times. The chart shows where one step's GPU time goes: matrix multiplications and attention dominate and are already near the hardware limit; those use vendor libraries and we do not try to beat them. What is left is the memory-bound operations: normalization, RoPE, the loss. The loss (softcap plus cross-entropy) is the largest one in eager at 29.6 milliseconds, and compile cuts it to 4.5. Those are our targets.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TALHA or HAMZA (1.7 min). First results, all measured on the GH200, forward plus backward. Grey is speedup over eager PyTorch, orange is speedup over torch.compile, which is the harder baseline. Reading the chart from the bottom: the loss kernel, softcap plus cross-entropy, is 12 times faster than eager and 1.56 times faster than compile, and it uses 8 times less memory. QK-norm plus RoPE is 12 times over eager and 2 times over compile. The residual-mix plus norm kernel is 4.3 over eager and 1.1 over compile. Two honest points: for plain RMSNorm compile is already good, so we get only 1.18 times at 768 wide, and at 128 wide we tie compile (0.96, which is within noise). We report that because a result that is not better is still a result. All plotted kernels passed the correctness gates.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TALHA (1.5 min). This is the kind of result the project is about: using the machine code to explain a number. Our loss kernel moves little data, so we expected it to be limited by memory. The instruction analysis says otherwise: each logit needs about 3.3 operations on the GPU's special-function unit, the hardware that computes exp and reciprocal, and those units are only a fraction of the arithmetic units. That gives a floor of about 0.95 milliseconds, higher than the 0.59 ms the memory floor allows. We measure 1.18 ms, close to that floor. So the next improvement is not about memory: it is about using fewer or cheaper exp instructions. As a check, a variant using the hardware's approximate tanh instruction is about 2.5 times faster than compile on the forward pass with a small error, but it is only an experiment; we have not adopted it. The profiler also shows our other kernels run at 82 to 98 percent of the GPU's measured memory bandwidth, so they are at the roof.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(1.3 min). What comes next. Over the next month: the fused loss with the output layer so the huge logits tensor is never stored, a study of Triton matrix multiplication, an attention kernel, and CUDA and HIP versions of the three main kernels. In parallel the AMD side: static tables for all kernels, and measured runs on Delta as soon as the node is back. Then plug the kernels into nanochat training and check that the loss curve is the same, which is the gate that matters. The code freeze is December 8 and the second presentation is December 17. Budget: we have used about 0.85 service units (SU) of the 25 we planned, so cost is not the constraint. The main risk is AMD hardware availability; the fallback is the static analysis, which is already built.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Use only for questions. MUFU = multi-function unit (exp, reciprocal, tanh hardware). ISA = instruction set architecture. SASS = the real NVIDIA machine code; PTX is the portable layer above it. AMDGCN = AMD's machine code. Roofline = a chart of how close a kernel is to the hardware's memory or compute limit. Wavefront = AMD's 64-thread group, a warp is NVIDIA's 32. G1/G2 are our correctness gates: G1 for values, G2 for gradients.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645920"/>
          </a:xfrm>
          <a:prstGeom prst="rect">
            <a:avLst/>
          </a:prstGeom>
          <a:noFill/>
        </p:spPr>
        <p:txBody>
          <a:bodyPr wrap="square" anchor="t" lIns="45720" rIns="45720" tIns="27432" bIns="27432">
            <a:spAutoFit/>
          </a:bodyPr>
          <a:lstStyle/>
          <a:p>
            <a:pPr algn="l">
              <a:spcAft>
                <a:spcPts val="800"/>
              </a:spcAft>
            </a:pPr>
            <a:r>
              <a:rPr sz="4800" b="1">
                <a:solidFill>
                  <a:srgbClr val="FFFFFF"/>
                </a:solidFill>
                <a:latin typeface="Calibri"/>
              </a:rPr>
              <a:t>Optimizing nanochat down to the assembly level</a:t>
            </a:r>
          </a:p>
        </p:txBody>
      </p:sp>
      <p:sp>
        <p:nvSpPr>
          <p:cNvPr id="4" name="TextBox 3"/>
          <p:cNvSpPr txBox="1"/>
          <p:nvPr/>
        </p:nvSpPr>
        <p:spPr>
          <a:xfrm>
            <a:off x="822960" y="3566160"/>
            <a:ext cx="10515600" cy="731520"/>
          </a:xfrm>
          <a:prstGeom prst="rect">
            <a:avLst/>
          </a:prstGeom>
          <a:noFill/>
        </p:spPr>
        <p:txBody>
          <a:bodyPr wrap="square" anchor="t" lIns="45720" rIns="45720" tIns="27432" bIns="27432">
            <a:spAutoFit/>
          </a:bodyPr>
          <a:lstStyle/>
          <a:p>
            <a:pPr algn="l">
              <a:spcAft>
                <a:spcPts val="800"/>
              </a:spcAft>
            </a:pPr>
            <a:r>
              <a:rPr sz="2200" b="0">
                <a:solidFill>
                  <a:srgbClr val="CADCFC"/>
                </a:solidFill>
                <a:latin typeface="Calibri"/>
              </a:rPr>
              <a:t>NVPTX and AMDGCN: rewriting the hot GPU kernels of an LLM trainer, then reading their machine code</a:t>
            </a:r>
          </a:p>
        </p:txBody>
      </p:sp>
      <p:sp>
        <p:nvSpPr>
          <p:cNvPr id="5" name="TextBox 4"/>
          <p:cNvSpPr txBox="1"/>
          <p:nvPr/>
        </p:nvSpPr>
        <p:spPr>
          <a:xfrm>
            <a:off x="822960" y="5120640"/>
            <a:ext cx="10515600" cy="822960"/>
          </a:xfrm>
          <a:prstGeom prst="rect">
            <a:avLst/>
          </a:prstGeom>
          <a:noFill/>
        </p:spPr>
        <p:txBody>
          <a:bodyPr wrap="square" anchor="t" lIns="45720" rIns="45720" tIns="27432" bIns="27432">
            <a:spAutoFit/>
          </a:bodyPr>
          <a:lstStyle/>
          <a:p>
            <a:pPr algn="l">
              <a:spcAft>
                <a:spcPts val="800"/>
              </a:spcAft>
            </a:pPr>
            <a:r>
              <a:rPr sz="1800" b="0">
                <a:solidFill>
                  <a:srgbClr val="FFFFFF"/>
                </a:solidFill>
                <a:latin typeface="Calibri"/>
              </a:rPr>
              <a:t>Talha Mahmood and Hamza Mahmood</a:t>
            </a:r>
          </a:p>
          <a:p>
            <a:pPr algn="l">
              <a:spcAft>
                <a:spcPts val="800"/>
              </a:spcAft>
            </a:pPr>
            <a:r>
              <a:rPr sz="1800" b="0">
                <a:solidFill>
                  <a:srgbClr val="FFFFFF"/>
                </a:solidFill>
                <a:latin typeface="Calibri"/>
              </a:rPr>
              <a:t>CISC662 | Presentation 1 |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11094415" cy="1051560"/>
          </a:xfrm>
          <a:prstGeom prst="rect">
            <a:avLst/>
          </a:prstGeom>
          <a:noFill/>
        </p:spPr>
        <p:txBody>
          <a:bodyPr wrap="square" anchor="ctr" lIns="45720" rIns="45720" tIns="27432" bIns="27432">
            <a:spAutoFit/>
          </a:bodyPr>
          <a:lstStyle/>
          <a:p>
            <a:pPr algn="l">
              <a:spcAft>
                <a:spcPts val="800"/>
              </a:spcAft>
            </a:pPr>
            <a:r>
              <a:rPr sz="3000" b="1">
                <a:solidFill>
                  <a:srgbClr val="142B4D"/>
                </a:solidFill>
                <a:latin typeface="Calibri"/>
              </a:rPr>
              <a:t>What we are doing and why</a:t>
            </a:r>
          </a:p>
        </p:txBody>
      </p:sp>
      <p:sp>
        <p:nvSpPr>
          <p:cNvPr id="3" name="TextBox 2"/>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800"/>
              </a:spcAft>
            </a:pPr>
            <a:r>
              <a:rPr sz="1100" b="0">
                <a:solidFill>
                  <a:srgbClr val="666666"/>
                </a:solidFill>
                <a:latin typeface="Calibri"/>
              </a:rPr>
              <a:t>CISC662 | Optimizing nanochat down to the assembly level</a:t>
            </a:r>
          </a:p>
        </p:txBody>
      </p:sp>
      <p:sp>
        <p:nvSpPr>
          <p:cNvPr id="4" name="TextBox 3"/>
          <p:cNvSpPr txBox="1"/>
          <p:nvPr/>
        </p:nvSpPr>
        <p:spPr>
          <a:xfrm>
            <a:off x="10911535" y="6446520"/>
            <a:ext cx="731520" cy="274320"/>
          </a:xfrm>
          <a:prstGeom prst="rect">
            <a:avLst/>
          </a:prstGeom>
          <a:noFill/>
        </p:spPr>
        <p:txBody>
          <a:bodyPr wrap="square" anchor="t" lIns="45720" rIns="45720" tIns="27432" bIns="27432">
            <a:spAutoFit/>
          </a:bodyPr>
          <a:lstStyle/>
          <a:p>
            <a:pPr algn="r">
              <a:spcAft>
                <a:spcPts val="800"/>
              </a:spcAft>
            </a:pPr>
            <a:r>
              <a:rPr sz="1100" b="0">
                <a:solidFill>
                  <a:srgbClr val="666666"/>
                </a:solidFill>
                <a:latin typeface="Calibri"/>
              </a:rPr>
              <a:t>2</a:t>
            </a:r>
          </a:p>
        </p:txBody>
      </p:sp>
      <p:sp>
        <p:nvSpPr>
          <p:cNvPr id="5" name="Oval 4"/>
          <p:cNvSpPr/>
          <p:nvPr/>
        </p:nvSpPr>
        <p:spPr>
          <a:xfrm>
            <a:off x="640080" y="1691640"/>
            <a:ext cx="822960" cy="822960"/>
          </a:xfrm>
          <a:prstGeom prst="ellipse">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822960" cy="822960"/>
          </a:xfrm>
          <a:prstGeom prst="rect">
            <a:avLst/>
          </a:prstGeom>
          <a:noFill/>
        </p:spPr>
        <p:txBody>
          <a:bodyPr wrap="square" anchor="ctr" lIns="45720" rIns="45720" tIns="27432" bIns="27432">
            <a:spAutoFit/>
          </a:bodyPr>
          <a:lstStyle/>
          <a:p>
            <a:pPr algn="ctr">
              <a:spcAft>
                <a:spcPts val="800"/>
              </a:spcAft>
            </a:pPr>
            <a:r>
              <a:rPr sz="3000" b="1">
                <a:solidFill>
                  <a:srgbClr val="FFFFFF"/>
                </a:solidFill>
                <a:latin typeface="Calibri"/>
              </a:rPr>
              <a:t>1</a:t>
            </a:r>
          </a:p>
        </p:txBody>
      </p:sp>
      <p:sp>
        <p:nvSpPr>
          <p:cNvPr id="7" name="TextBox 6"/>
          <p:cNvSpPr txBox="1"/>
          <p:nvPr/>
        </p:nvSpPr>
        <p:spPr>
          <a:xfrm>
            <a:off x="1691640" y="1645920"/>
            <a:ext cx="9875520" cy="411480"/>
          </a:xfrm>
          <a:prstGeom prst="rect">
            <a:avLst/>
          </a:prstGeom>
          <a:noFill/>
        </p:spPr>
        <p:txBody>
          <a:bodyPr wrap="square" anchor="t" lIns="45720" rIns="45720" tIns="27432" bIns="27432">
            <a:spAutoFit/>
          </a:bodyPr>
          <a:lstStyle/>
          <a:p>
            <a:pPr algn="l">
              <a:spcAft>
                <a:spcPts val="800"/>
              </a:spcAft>
            </a:pPr>
            <a:r>
              <a:rPr sz="2400" b="1">
                <a:solidFill>
                  <a:srgbClr val="142B4D"/>
                </a:solidFill>
                <a:latin typeface="Calibri"/>
              </a:rPr>
              <a:t>Pick the hot spots</a:t>
            </a:r>
          </a:p>
        </p:txBody>
      </p:sp>
      <p:sp>
        <p:nvSpPr>
          <p:cNvPr id="8" name="TextBox 7"/>
          <p:cNvSpPr txBox="1"/>
          <p:nvPr/>
        </p:nvSpPr>
        <p:spPr>
          <a:xfrm>
            <a:off x="1691640" y="2075688"/>
            <a:ext cx="9875520" cy="822960"/>
          </a:xfrm>
          <a:prstGeom prst="rect">
            <a:avLst/>
          </a:prstGeom>
          <a:noFill/>
        </p:spPr>
        <p:txBody>
          <a:bodyPr wrap="square" anchor="t" lIns="45720" rIns="45720" tIns="27432" bIns="27432">
            <a:spAutoFit/>
          </a:bodyPr>
          <a:lstStyle/>
          <a:p>
            <a:pPr algn="l">
              <a:spcAft>
                <a:spcPts val="800"/>
              </a:spcAft>
            </a:pPr>
            <a:r>
              <a:rPr sz="1800" b="0">
                <a:solidFill>
                  <a:srgbClr val="222222"/>
                </a:solidFill>
                <a:latin typeface="Calibri"/>
              </a:rPr>
              <a:t>Profile one training step of nanochat and find which GPU operations cost the most time.</a:t>
            </a:r>
          </a:p>
        </p:txBody>
      </p:sp>
      <p:sp>
        <p:nvSpPr>
          <p:cNvPr id="9" name="Oval 8"/>
          <p:cNvSpPr/>
          <p:nvPr/>
        </p:nvSpPr>
        <p:spPr>
          <a:xfrm>
            <a:off x="640080" y="3063240"/>
            <a:ext cx="822960" cy="822960"/>
          </a:xfrm>
          <a:prstGeom prst="ellipse">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63240"/>
            <a:ext cx="822960" cy="822960"/>
          </a:xfrm>
          <a:prstGeom prst="rect">
            <a:avLst/>
          </a:prstGeom>
          <a:noFill/>
        </p:spPr>
        <p:txBody>
          <a:bodyPr wrap="square" anchor="ctr" lIns="45720" rIns="45720" tIns="27432" bIns="27432">
            <a:spAutoFit/>
          </a:bodyPr>
          <a:lstStyle/>
          <a:p>
            <a:pPr algn="ctr">
              <a:spcAft>
                <a:spcPts val="800"/>
              </a:spcAft>
            </a:pPr>
            <a:r>
              <a:rPr sz="3000" b="1">
                <a:solidFill>
                  <a:srgbClr val="FFFFFF"/>
                </a:solidFill>
                <a:latin typeface="Calibri"/>
              </a:rPr>
              <a:t>2</a:t>
            </a:r>
          </a:p>
        </p:txBody>
      </p:sp>
      <p:sp>
        <p:nvSpPr>
          <p:cNvPr id="11" name="TextBox 10"/>
          <p:cNvSpPr txBox="1"/>
          <p:nvPr/>
        </p:nvSpPr>
        <p:spPr>
          <a:xfrm>
            <a:off x="1691640" y="3017520"/>
            <a:ext cx="9875520" cy="411480"/>
          </a:xfrm>
          <a:prstGeom prst="rect">
            <a:avLst/>
          </a:prstGeom>
          <a:noFill/>
        </p:spPr>
        <p:txBody>
          <a:bodyPr wrap="square" anchor="t" lIns="45720" rIns="45720" tIns="27432" bIns="27432">
            <a:spAutoFit/>
          </a:bodyPr>
          <a:lstStyle/>
          <a:p>
            <a:pPr algn="l">
              <a:spcAft>
                <a:spcPts val="800"/>
              </a:spcAft>
            </a:pPr>
            <a:r>
              <a:rPr sz="2400" b="1">
                <a:solidFill>
                  <a:srgbClr val="142B4D"/>
                </a:solidFill>
                <a:latin typeface="Calibri"/>
              </a:rPr>
              <a:t>Rewrite them by hand</a:t>
            </a:r>
          </a:p>
        </p:txBody>
      </p:sp>
      <p:sp>
        <p:nvSpPr>
          <p:cNvPr id="12" name="TextBox 11"/>
          <p:cNvSpPr txBox="1"/>
          <p:nvPr/>
        </p:nvSpPr>
        <p:spPr>
          <a:xfrm>
            <a:off x="1691640" y="3447288"/>
            <a:ext cx="9875520" cy="822960"/>
          </a:xfrm>
          <a:prstGeom prst="rect">
            <a:avLst/>
          </a:prstGeom>
          <a:noFill/>
        </p:spPr>
        <p:txBody>
          <a:bodyPr wrap="square" anchor="t" lIns="45720" rIns="45720" tIns="27432" bIns="27432">
            <a:spAutoFit/>
          </a:bodyPr>
          <a:lstStyle/>
          <a:p>
            <a:pPr algn="l">
              <a:spcAft>
                <a:spcPts val="800"/>
              </a:spcAft>
            </a:pPr>
            <a:r>
              <a:rPr sz="1800" b="0">
                <a:solidFill>
                  <a:srgbClr val="222222"/>
                </a:solidFill>
                <a:latin typeface="Calibri"/>
              </a:rPr>
              <a:t>Fused Triton kernels first, then CUDA and HIP versions of the three most important ones.</a:t>
            </a:r>
          </a:p>
        </p:txBody>
      </p:sp>
      <p:sp>
        <p:nvSpPr>
          <p:cNvPr id="13" name="Oval 12"/>
          <p:cNvSpPr/>
          <p:nvPr/>
        </p:nvSpPr>
        <p:spPr>
          <a:xfrm>
            <a:off x="640080" y="4434840"/>
            <a:ext cx="822960" cy="822960"/>
          </a:xfrm>
          <a:prstGeom prst="ellipse">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434840"/>
            <a:ext cx="822960" cy="822960"/>
          </a:xfrm>
          <a:prstGeom prst="rect">
            <a:avLst/>
          </a:prstGeom>
          <a:noFill/>
        </p:spPr>
        <p:txBody>
          <a:bodyPr wrap="square" anchor="ctr" lIns="45720" rIns="45720" tIns="27432" bIns="27432">
            <a:spAutoFit/>
          </a:bodyPr>
          <a:lstStyle/>
          <a:p>
            <a:pPr algn="ctr">
              <a:spcAft>
                <a:spcPts val="800"/>
              </a:spcAft>
            </a:pPr>
            <a:r>
              <a:rPr sz="3000" b="1">
                <a:solidFill>
                  <a:srgbClr val="FFFFFF"/>
                </a:solidFill>
                <a:latin typeface="Calibri"/>
              </a:rPr>
              <a:t>3</a:t>
            </a:r>
          </a:p>
        </p:txBody>
      </p:sp>
      <p:sp>
        <p:nvSpPr>
          <p:cNvPr id="15" name="TextBox 14"/>
          <p:cNvSpPr txBox="1"/>
          <p:nvPr/>
        </p:nvSpPr>
        <p:spPr>
          <a:xfrm>
            <a:off x="1691640" y="4389120"/>
            <a:ext cx="9875520" cy="411480"/>
          </a:xfrm>
          <a:prstGeom prst="rect">
            <a:avLst/>
          </a:prstGeom>
          <a:noFill/>
        </p:spPr>
        <p:txBody>
          <a:bodyPr wrap="square" anchor="t" lIns="45720" rIns="45720" tIns="27432" bIns="27432">
            <a:spAutoFit/>
          </a:bodyPr>
          <a:lstStyle/>
          <a:p>
            <a:pPr algn="l">
              <a:spcAft>
                <a:spcPts val="800"/>
              </a:spcAft>
            </a:pPr>
            <a:r>
              <a:rPr sz="2400" b="1">
                <a:solidFill>
                  <a:srgbClr val="142B4D"/>
                </a:solidFill>
                <a:latin typeface="Calibri"/>
              </a:rPr>
              <a:t>Read the machine code</a:t>
            </a:r>
          </a:p>
        </p:txBody>
      </p:sp>
      <p:sp>
        <p:nvSpPr>
          <p:cNvPr id="16" name="TextBox 15"/>
          <p:cNvSpPr txBox="1"/>
          <p:nvPr/>
        </p:nvSpPr>
        <p:spPr>
          <a:xfrm>
            <a:off x="1691640" y="4818888"/>
            <a:ext cx="9875520" cy="822960"/>
          </a:xfrm>
          <a:prstGeom prst="rect">
            <a:avLst/>
          </a:prstGeom>
          <a:noFill/>
        </p:spPr>
        <p:txBody>
          <a:bodyPr wrap="square" anchor="t" lIns="45720" rIns="45720" tIns="27432" bIns="27432">
            <a:spAutoFit/>
          </a:bodyPr>
          <a:lstStyle/>
          <a:p>
            <a:pPr algn="l">
              <a:spcAft>
                <a:spcPts val="800"/>
              </a:spcAft>
            </a:pPr>
            <a:r>
              <a:rPr sz="1800" b="0">
                <a:solidFill>
                  <a:srgbClr val="222222"/>
                </a:solidFill>
                <a:latin typeface="Calibri"/>
              </a:rPr>
              <a:t>Compile for NVIDIA (PTX, SASS) and AMD (AMDGCN); explain every speedup or slowdown by the instructions.</a:t>
            </a:r>
          </a:p>
        </p:txBody>
      </p:sp>
      <p:sp>
        <p:nvSpPr>
          <p:cNvPr id="17" name="TextBox 16"/>
          <p:cNvSpPr txBox="1"/>
          <p:nvPr/>
        </p:nvSpPr>
        <p:spPr>
          <a:xfrm>
            <a:off x="640080" y="5806440"/>
            <a:ext cx="10881360" cy="457200"/>
          </a:xfrm>
          <a:prstGeom prst="rect">
            <a:avLst/>
          </a:prstGeom>
          <a:noFill/>
        </p:spPr>
        <p:txBody>
          <a:bodyPr wrap="square" anchor="t" lIns="45720" rIns="45720" tIns="27432" bIns="27432">
            <a:spAutoFit/>
          </a:bodyPr>
          <a:lstStyle/>
          <a:p>
            <a:pPr algn="l">
              <a:spcAft>
                <a:spcPts val="800"/>
              </a:spcAft>
            </a:pPr>
            <a:r>
              <a:rPr sz="1600" b="0">
                <a:solidFill>
                  <a:srgbClr val="666666"/>
                </a:solidFill>
                <a:latin typeface="Calibri"/>
              </a:rPr>
              <a:t>Baselines to beat: eager PyTorch and torch.compile (Inductor), measured on the same GPU in the same job.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11094415" cy="1051560"/>
          </a:xfrm>
          <a:prstGeom prst="rect">
            <a:avLst/>
          </a:prstGeom>
          <a:noFill/>
        </p:spPr>
        <p:txBody>
          <a:bodyPr wrap="square" anchor="ctr" lIns="45720" rIns="45720" tIns="27432" bIns="27432">
            <a:spAutoFit/>
          </a:bodyPr>
          <a:lstStyle/>
          <a:p>
            <a:pPr algn="l">
              <a:spcAft>
                <a:spcPts val="800"/>
              </a:spcAft>
            </a:pPr>
            <a:r>
              <a:rPr sz="3000" b="1">
                <a:solidFill>
                  <a:srgbClr val="142B4D"/>
                </a:solidFill>
                <a:latin typeface="Calibri"/>
              </a:rPr>
              <a:t>Proposal versus reality: what changed and why</a:t>
            </a:r>
          </a:p>
        </p:txBody>
      </p:sp>
      <p:sp>
        <p:nvSpPr>
          <p:cNvPr id="3" name="TextBox 2"/>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800"/>
              </a:spcAft>
            </a:pPr>
            <a:r>
              <a:rPr sz="1100" b="0">
                <a:solidFill>
                  <a:srgbClr val="666666"/>
                </a:solidFill>
                <a:latin typeface="Calibri"/>
              </a:rPr>
              <a:t>CISC662 | Optimizing nanochat down to the assembly level</a:t>
            </a:r>
          </a:p>
        </p:txBody>
      </p:sp>
      <p:sp>
        <p:nvSpPr>
          <p:cNvPr id="4" name="TextBox 3"/>
          <p:cNvSpPr txBox="1"/>
          <p:nvPr/>
        </p:nvSpPr>
        <p:spPr>
          <a:xfrm>
            <a:off x="10911535" y="6446520"/>
            <a:ext cx="731520" cy="274320"/>
          </a:xfrm>
          <a:prstGeom prst="rect">
            <a:avLst/>
          </a:prstGeom>
          <a:noFill/>
        </p:spPr>
        <p:txBody>
          <a:bodyPr wrap="square" anchor="t" lIns="45720" rIns="45720" tIns="27432" bIns="27432">
            <a:spAutoFit/>
          </a:bodyPr>
          <a:lstStyle/>
          <a:p>
            <a:pPr algn="r">
              <a:spcAft>
                <a:spcPts val="800"/>
              </a:spcAft>
            </a:pPr>
            <a:r>
              <a:rPr sz="1100" b="0">
                <a:solidFill>
                  <a:srgbClr val="666666"/>
                </a:solidFill>
                <a:latin typeface="Calibri"/>
              </a:rPr>
              <a:t>3</a:t>
            </a:r>
          </a:p>
        </p:txBody>
      </p:sp>
      <p:graphicFrame>
        <p:nvGraphicFramePr>
          <p:cNvPr id="5" name="Table 4"/>
          <p:cNvGraphicFramePr>
            <a:graphicFrameLocks noGrp="1"/>
          </p:cNvGraphicFramePr>
          <p:nvPr/>
        </p:nvGraphicFramePr>
        <p:xfrm>
          <a:off x="548640" y="1691640"/>
          <a:ext cx="11247120" cy="3931920"/>
        </p:xfrm>
        <a:graphic>
          <a:graphicData uri="http://schemas.openxmlformats.org/drawingml/2006/table">
            <a:tbl>
              <a:tblPr firstRow="1" bandRow="1">
                <a:tableStyleId>{5C22544A-7EE6-4342-B048-85BDC9FD1C3A}</a:tableStyleId>
              </a:tblPr>
              <a:tblGrid>
                <a:gridCol w="1920240"/>
                <a:gridCol w="2377440"/>
                <a:gridCol w="4937760"/>
                <a:gridCol w="2011680"/>
              </a:tblGrid>
              <a:tr h="655320">
                <a:tc>
                  <a:txBody>
                    <a:bodyPr/>
                    <a:lstStyle/>
                    <a:p>
                      <a:r>
                        <a:rPr sz="1600" b="1">
                          <a:solidFill>
                            <a:srgbClr val="FFFFFF"/>
                          </a:solidFill>
                          <a:latin typeface="Calibri"/>
                        </a:rPr>
                        <a:t> </a:t>
                      </a:r>
                    </a:p>
                  </a:txBody>
                  <a:tcPr anchor="ctr">
                    <a:solidFill>
                      <a:srgbClr val="142B4D"/>
                    </a:solidFill>
                  </a:tcPr>
                </a:tc>
                <a:tc>
                  <a:txBody>
                    <a:bodyPr/>
                    <a:lstStyle/>
                    <a:p>
                      <a:r>
                        <a:rPr sz="1600" b="1">
                          <a:solidFill>
                            <a:srgbClr val="FFFFFF"/>
                          </a:solidFill>
                          <a:latin typeface="Calibri"/>
                        </a:rPr>
                        <a:t>Proposal</a:t>
                      </a:r>
                    </a:p>
                  </a:txBody>
                  <a:tcPr anchor="ctr">
                    <a:solidFill>
                      <a:srgbClr val="142B4D"/>
                    </a:solidFill>
                  </a:tcPr>
                </a:tc>
                <a:tc>
                  <a:txBody>
                    <a:bodyPr/>
                    <a:lstStyle/>
                    <a:p>
                      <a:r>
                        <a:rPr sz="1600" b="1">
                          <a:solidFill>
                            <a:srgbClr val="FFFFFF"/>
                          </a:solidFill>
                          <a:latin typeface="Calibri"/>
                        </a:rPr>
                        <a:t>What we do now</a:t>
                      </a:r>
                    </a:p>
                  </a:txBody>
                  <a:tcPr anchor="ctr">
                    <a:solidFill>
                      <a:srgbClr val="142B4D"/>
                    </a:solidFill>
                  </a:tcPr>
                </a:tc>
                <a:tc>
                  <a:txBody>
                    <a:bodyPr/>
                    <a:lstStyle/>
                    <a:p>
                      <a:r>
                        <a:rPr sz="1600" b="1">
                          <a:solidFill>
                            <a:srgbClr val="FFFFFF"/>
                          </a:solidFill>
                          <a:latin typeface="Calibri"/>
                        </a:rPr>
                        <a:t>Status</a:t>
                      </a:r>
                    </a:p>
                  </a:txBody>
                  <a:tcPr anchor="ctr">
                    <a:solidFill>
                      <a:srgbClr val="142B4D"/>
                    </a:solidFill>
                  </a:tcPr>
                </a:tc>
              </a:tr>
              <a:tr h="655320">
                <a:tc>
                  <a:txBody>
                    <a:bodyPr/>
                    <a:lstStyle/>
                    <a:p>
                      <a:r>
                        <a:rPr sz="1600" b="1">
                          <a:solidFill>
                            <a:srgbClr val="222222"/>
                          </a:solidFill>
                          <a:latin typeface="Calibri"/>
                        </a:rPr>
                        <a:t>Main GPU</a:t>
                      </a:r>
                    </a:p>
                  </a:txBody>
                  <a:tcPr anchor="ctr">
                    <a:solidFill>
                      <a:srgbClr val="EEF3FA"/>
                    </a:solidFill>
                  </a:tcPr>
                </a:tc>
                <a:tc>
                  <a:txBody>
                    <a:bodyPr/>
                    <a:lstStyle/>
                    <a:p>
                      <a:r>
                        <a:rPr sz="1600" b="0">
                          <a:solidFill>
                            <a:srgbClr val="222222"/>
                          </a:solidFill>
                          <a:latin typeface="Calibri"/>
                        </a:rPr>
                        <a:t>DARWIN V100</a:t>
                      </a:r>
                    </a:p>
                  </a:txBody>
                  <a:tcPr anchor="ctr">
                    <a:solidFill>
                      <a:srgbClr val="EEF3FA"/>
                    </a:solidFill>
                  </a:tcPr>
                </a:tc>
                <a:tc>
                  <a:txBody>
                    <a:bodyPr/>
                    <a:lstStyle/>
                    <a:p>
                      <a:r>
                        <a:rPr sz="1600" b="0">
                          <a:solidFill>
                            <a:srgbClr val="222222"/>
                          </a:solidFill>
                          <a:latin typeface="Calibri"/>
                        </a:rPr>
                        <a:t>DeltaAI GH200 (H100-class)</a:t>
                      </a:r>
                    </a:p>
                  </a:txBody>
                  <a:tcPr anchor="ctr">
                    <a:solidFill>
                      <a:srgbClr val="EEF3FA"/>
                    </a:solidFill>
                  </a:tcPr>
                </a:tc>
                <a:tc>
                  <a:txBody>
                    <a:bodyPr/>
                    <a:lstStyle/>
                    <a:p>
                      <a:r>
                        <a:rPr sz="1600" b="0">
                          <a:solidFill>
                            <a:srgbClr val="222222"/>
                          </a:solidFill>
                          <a:latin typeface="Calibri"/>
                        </a:rPr>
                        <a:t>Measured</a:t>
                      </a:r>
                    </a:p>
                  </a:txBody>
                  <a:tcPr anchor="ctr">
                    <a:solidFill>
                      <a:srgbClr val="EEF3FA"/>
                    </a:solidFill>
                  </a:tcPr>
                </a:tc>
              </a:tr>
              <a:tr h="655320">
                <a:tc>
                  <a:txBody>
                    <a:bodyPr/>
                    <a:lstStyle/>
                    <a:p>
                      <a:r>
                        <a:rPr sz="1600" b="1">
                          <a:solidFill>
                            <a:srgbClr val="222222"/>
                          </a:solidFill>
                          <a:latin typeface="Calibri"/>
                        </a:rPr>
                        <a:t>AMD GPUs</a:t>
                      </a:r>
                    </a:p>
                  </a:txBody>
                  <a:tcPr anchor="ctr">
                    <a:solidFill>
                      <a:srgbClr val="FFFFFF"/>
                    </a:solidFill>
                  </a:tcPr>
                </a:tc>
                <a:tc>
                  <a:txBody>
                    <a:bodyPr/>
                    <a:lstStyle/>
                    <a:p>
                      <a:r>
                        <a:rPr sz="1600" b="0">
                          <a:solidFill>
                            <a:srgbClr val="222222"/>
                          </a:solidFill>
                          <a:latin typeface="Calibri"/>
                        </a:rPr>
                        <a:t>MI100 / MI250X</a:t>
                      </a:r>
                    </a:p>
                  </a:txBody>
                  <a:tcPr anchor="ctr">
                    <a:solidFill>
                      <a:srgbClr val="FFFFFF"/>
                    </a:solidFill>
                  </a:tcPr>
                </a:tc>
                <a:tc>
                  <a:txBody>
                    <a:bodyPr/>
                    <a:lstStyle/>
                    <a:p>
                      <a:r>
                        <a:rPr sz="1600" b="0">
                          <a:solidFill>
                            <a:srgbClr val="222222"/>
                          </a:solidFill>
                          <a:latin typeface="Calibri"/>
                        </a:rPr>
                        <a:t>AMDGCN compiled for gfx908, gfx90a, gfx942</a:t>
                      </a:r>
                    </a:p>
                  </a:txBody>
                  <a:tcPr anchor="ctr">
                    <a:solidFill>
                      <a:srgbClr val="FFFFFF"/>
                    </a:solidFill>
                  </a:tcPr>
                </a:tc>
                <a:tc>
                  <a:txBody>
                    <a:bodyPr/>
                    <a:lstStyle/>
                    <a:p>
                      <a:r>
                        <a:rPr sz="1600" b="0">
                          <a:solidFill>
                            <a:srgbClr val="222222"/>
                          </a:solidFill>
                          <a:latin typeface="Calibri"/>
                        </a:rPr>
                        <a:t>Static done</a:t>
                      </a:r>
                    </a:p>
                  </a:txBody>
                  <a:tcPr anchor="ctr">
                    <a:solidFill>
                      <a:srgbClr val="FFFFFF"/>
                    </a:solidFill>
                  </a:tcPr>
                </a:tc>
              </a:tr>
              <a:tr h="655320">
                <a:tc>
                  <a:txBody>
                    <a:bodyPr/>
                    <a:lstStyle/>
                    <a:p>
                      <a:r>
                        <a:rPr sz="1600" b="1">
                          <a:solidFill>
                            <a:srgbClr val="222222"/>
                          </a:solidFill>
                          <a:latin typeface="Calibri"/>
                        </a:rPr>
                        <a:t>AMD measured</a:t>
                      </a:r>
                    </a:p>
                  </a:txBody>
                  <a:tcPr anchor="ctr">
                    <a:solidFill>
                      <a:srgbClr val="EEF3FA"/>
                    </a:solidFill>
                  </a:tcPr>
                </a:tc>
                <a:tc>
                  <a:txBody>
                    <a:bodyPr/>
                    <a:lstStyle/>
                    <a:p>
                      <a:r>
                        <a:rPr sz="1600" b="0">
                          <a:solidFill>
                            <a:srgbClr val="222222"/>
                          </a:solidFill>
                          <a:latin typeface="Calibri"/>
                        </a:rPr>
                        <a:t>same</a:t>
                      </a:r>
                    </a:p>
                  </a:txBody>
                  <a:tcPr anchor="ctr">
                    <a:solidFill>
                      <a:srgbClr val="EEF3FA"/>
                    </a:solidFill>
                  </a:tcPr>
                </a:tc>
                <a:tc>
                  <a:txBody>
                    <a:bodyPr/>
                    <a:lstStyle/>
                    <a:p>
                      <a:r>
                        <a:rPr sz="1600" b="0">
                          <a:solidFill>
                            <a:srgbClr val="222222"/>
                          </a:solidFill>
                          <a:latin typeface="Calibri"/>
                        </a:rPr>
                        <a:t>NCSA Delta MI100 / MI210 (access confirmed)</a:t>
                      </a:r>
                    </a:p>
                  </a:txBody>
                  <a:tcPr anchor="ctr">
                    <a:solidFill>
                      <a:srgbClr val="EEF3FA"/>
                    </a:solidFill>
                  </a:tcPr>
                </a:tc>
                <a:tc>
                  <a:txBody>
                    <a:bodyPr/>
                    <a:lstStyle/>
                    <a:p>
                      <a:r>
                        <a:rPr sz="1600" b="0">
                          <a:solidFill>
                            <a:srgbClr val="222222"/>
                          </a:solidFill>
                          <a:latin typeface="Calibri"/>
                        </a:rPr>
                        <a:t>Node in maintenance</a:t>
                      </a:r>
                    </a:p>
                  </a:txBody>
                  <a:tcPr anchor="ctr">
                    <a:solidFill>
                      <a:srgbClr val="EEF3FA"/>
                    </a:solidFill>
                  </a:tcPr>
                </a:tc>
              </a:tr>
              <a:tr h="655320">
                <a:tc>
                  <a:txBody>
                    <a:bodyPr/>
                    <a:lstStyle/>
                    <a:p>
                      <a:r>
                        <a:rPr sz="1600" b="1">
                          <a:solidFill>
                            <a:srgbClr val="222222"/>
                          </a:solidFill>
                          <a:latin typeface="Calibri"/>
                        </a:rPr>
                        <a:t>CPU reference</a:t>
                      </a:r>
                    </a:p>
                  </a:txBody>
                  <a:tcPr anchor="ctr">
                    <a:solidFill>
                      <a:srgbClr val="FFFFFF"/>
                    </a:solidFill>
                  </a:tcPr>
                </a:tc>
                <a:tc>
                  <a:txBody>
                    <a:bodyPr/>
                    <a:lstStyle/>
                    <a:p>
                      <a:r>
                        <a:rPr sz="1600" b="0">
                          <a:solidFill>
                            <a:srgbClr val="222222"/>
                          </a:solidFill>
                          <a:latin typeface="Calibri"/>
                        </a:rPr>
                        <a:t>x86 EPYC</a:t>
                      </a:r>
                    </a:p>
                  </a:txBody>
                  <a:tcPr anchor="ctr">
                    <a:solidFill>
                      <a:srgbClr val="FFFFFF"/>
                    </a:solidFill>
                  </a:tcPr>
                </a:tc>
                <a:tc>
                  <a:txBody>
                    <a:bodyPr/>
                    <a:lstStyle/>
                    <a:p>
                      <a:r>
                        <a:rPr sz="1600" b="0">
                          <a:solidFill>
                            <a:srgbClr val="222222"/>
                          </a:solidFill>
                          <a:latin typeface="Calibri"/>
                        </a:rPr>
                        <a:t>Grace (aarch64) CPU, reported raw and normalised</a:t>
                      </a:r>
                    </a:p>
                  </a:txBody>
                  <a:tcPr anchor="ctr">
                    <a:solidFill>
                      <a:srgbClr val="FFFFFF"/>
                    </a:solidFill>
                  </a:tcPr>
                </a:tc>
                <a:tc>
                  <a:txBody>
                    <a:bodyPr/>
                    <a:lstStyle/>
                    <a:p>
                      <a:r>
                        <a:rPr sz="1600" b="0">
                          <a:solidFill>
                            <a:srgbClr val="222222"/>
                          </a:solidFill>
                          <a:latin typeface="Calibri"/>
                        </a:rPr>
                        <a:t>Script written</a:t>
                      </a:r>
                    </a:p>
                  </a:txBody>
                  <a:tcPr anchor="ctr">
                    <a:solidFill>
                      <a:srgbClr val="FFFFFF"/>
                    </a:solidFill>
                  </a:tcPr>
                </a:tc>
              </a:tr>
              <a:tr h="655320">
                <a:tc>
                  <a:txBody>
                    <a:bodyPr/>
                    <a:lstStyle/>
                    <a:p>
                      <a:r>
                        <a:rPr sz="1600" b="1">
                          <a:solidFill>
                            <a:srgbClr val="222222"/>
                          </a:solidFill>
                          <a:latin typeface="Calibri"/>
                        </a:rPr>
                        <a:t>V100 / A100</a:t>
                      </a:r>
                    </a:p>
                  </a:txBody>
                  <a:tcPr anchor="ctr">
                    <a:solidFill>
                      <a:srgbClr val="EEF3FA"/>
                    </a:solidFill>
                  </a:tcPr>
                </a:tc>
                <a:tc>
                  <a:txBody>
                    <a:bodyPr/>
                    <a:lstStyle/>
                    <a:p>
                      <a:r>
                        <a:rPr sz="1600" b="0">
                          <a:solidFill>
                            <a:srgbClr val="222222"/>
                          </a:solidFill>
                          <a:latin typeface="Calibri"/>
                        </a:rPr>
                        <a:t>primary / extra</a:t>
                      </a:r>
                    </a:p>
                  </a:txBody>
                  <a:tcPr anchor="ctr">
                    <a:solidFill>
                      <a:srgbClr val="EEF3FA"/>
                    </a:solidFill>
                  </a:tcPr>
                </a:tc>
                <a:tc>
                  <a:txBody>
                    <a:bodyPr/>
                    <a:lstStyle/>
                    <a:p>
                      <a:r>
                        <a:rPr sz="1600" b="0">
                          <a:solidFill>
                            <a:srgbClr val="222222"/>
                          </a:solidFill>
                          <a:latin typeface="Calibri"/>
                        </a:rPr>
                        <a:t>Static comparison of sm_70, sm_80, sm_90a SASS</a:t>
                      </a:r>
                    </a:p>
                  </a:txBody>
                  <a:tcPr anchor="ctr">
                    <a:solidFill>
                      <a:srgbClr val="EEF3FA"/>
                    </a:solidFill>
                  </a:tcPr>
                </a:tc>
                <a:tc>
                  <a:txBody>
                    <a:bodyPr/>
                    <a:lstStyle/>
                    <a:p>
                      <a:r>
                        <a:rPr sz="1600" b="0">
                          <a:solidFill>
                            <a:srgbClr val="222222"/>
                          </a:solidFill>
                          <a:latin typeface="Calibri"/>
                        </a:rPr>
                        <a:t>Planned</a:t>
                      </a:r>
                    </a:p>
                  </a:txBody>
                  <a:tcPr anchor="ctr">
                    <a:solidFill>
                      <a:srgbClr val="EEF3F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11094415" cy="1051560"/>
          </a:xfrm>
          <a:prstGeom prst="rect">
            <a:avLst/>
          </a:prstGeom>
          <a:noFill/>
        </p:spPr>
        <p:txBody>
          <a:bodyPr wrap="square" anchor="ctr" lIns="45720" rIns="45720" tIns="27432" bIns="27432">
            <a:spAutoFit/>
          </a:bodyPr>
          <a:lstStyle/>
          <a:p>
            <a:pPr algn="l">
              <a:spcAft>
                <a:spcPts val="800"/>
              </a:spcAft>
            </a:pPr>
            <a:r>
              <a:rPr sz="3000" b="1">
                <a:solidFill>
                  <a:srgbClr val="142B4D"/>
                </a:solidFill>
                <a:latin typeface="Calibri"/>
              </a:rPr>
              <a:t>Method: a ladder from PyTorch down to instructions</a:t>
            </a:r>
          </a:p>
        </p:txBody>
      </p:sp>
      <p:sp>
        <p:nvSpPr>
          <p:cNvPr id="3" name="TextBox 2"/>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800"/>
              </a:spcAft>
            </a:pPr>
            <a:r>
              <a:rPr sz="1100" b="0">
                <a:solidFill>
                  <a:srgbClr val="666666"/>
                </a:solidFill>
                <a:latin typeface="Calibri"/>
              </a:rPr>
              <a:t>CISC662 | Optimizing nanochat down to the assembly level</a:t>
            </a:r>
          </a:p>
        </p:txBody>
      </p:sp>
      <p:sp>
        <p:nvSpPr>
          <p:cNvPr id="4" name="TextBox 3"/>
          <p:cNvSpPr txBox="1"/>
          <p:nvPr/>
        </p:nvSpPr>
        <p:spPr>
          <a:xfrm>
            <a:off x="10911535" y="6446520"/>
            <a:ext cx="731520" cy="274320"/>
          </a:xfrm>
          <a:prstGeom prst="rect">
            <a:avLst/>
          </a:prstGeom>
          <a:noFill/>
        </p:spPr>
        <p:txBody>
          <a:bodyPr wrap="square" anchor="t" lIns="45720" rIns="45720" tIns="27432" bIns="27432">
            <a:spAutoFit/>
          </a:bodyPr>
          <a:lstStyle/>
          <a:p>
            <a:pPr algn="r">
              <a:spcAft>
                <a:spcPts val="800"/>
              </a:spcAft>
            </a:pPr>
            <a:r>
              <a:rPr sz="1100" b="0">
                <a:solidFill>
                  <a:srgbClr val="666666"/>
                </a:solidFill>
                <a:latin typeface="Calibri"/>
              </a:rPr>
              <a:t>4</a:t>
            </a:r>
          </a:p>
        </p:txBody>
      </p:sp>
      <p:sp>
        <p:nvSpPr>
          <p:cNvPr id="5" name="Rounded Rectangle 4"/>
          <p:cNvSpPr/>
          <p:nvPr/>
        </p:nvSpPr>
        <p:spPr>
          <a:xfrm>
            <a:off x="548640" y="1783080"/>
            <a:ext cx="1645920" cy="1554480"/>
          </a:xfrm>
          <a:prstGeom prst="roundRect">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645920" cy="457200"/>
          </a:xfrm>
          <a:prstGeom prst="rect">
            <a:avLst/>
          </a:prstGeom>
          <a:noFill/>
        </p:spPr>
        <p:txBody>
          <a:bodyPr wrap="square" anchor="t" lIns="45720" rIns="45720" tIns="27432" bIns="27432">
            <a:spAutoFit/>
          </a:bodyPr>
          <a:lstStyle/>
          <a:p>
            <a:pPr algn="ctr">
              <a:spcAft>
                <a:spcPts val="800"/>
              </a:spcAft>
            </a:pPr>
            <a:r>
              <a:rPr sz="2200" b="1">
                <a:solidFill>
                  <a:srgbClr val="FFFFFF"/>
                </a:solidFill>
                <a:latin typeface="Calibri"/>
              </a:rPr>
              <a:t>L0</a:t>
            </a:r>
          </a:p>
        </p:txBody>
      </p:sp>
      <p:sp>
        <p:nvSpPr>
          <p:cNvPr id="7" name="TextBox 6"/>
          <p:cNvSpPr txBox="1"/>
          <p:nvPr/>
        </p:nvSpPr>
        <p:spPr>
          <a:xfrm>
            <a:off x="548640" y="2331720"/>
            <a:ext cx="1645920" cy="914400"/>
          </a:xfrm>
          <a:prstGeom prst="rect">
            <a:avLst/>
          </a:prstGeom>
          <a:noFill/>
        </p:spPr>
        <p:txBody>
          <a:bodyPr wrap="square" anchor="t" lIns="45720" rIns="45720" tIns="27432" bIns="27432">
            <a:spAutoFit/>
          </a:bodyPr>
          <a:lstStyle/>
          <a:p>
            <a:pPr algn="ctr">
              <a:spcAft>
                <a:spcPts val="800"/>
              </a:spcAft>
            </a:pPr>
            <a:r>
              <a:rPr sz="1600" b="0">
                <a:solidFill>
                  <a:srgbClr val="FFFFFF"/>
                </a:solidFill>
                <a:latin typeface="Calibri"/>
              </a:rPr>
              <a:t>Eager</a:t>
            </a:r>
          </a:p>
          <a:p>
            <a:pPr algn="ctr">
              <a:spcAft>
                <a:spcPts val="800"/>
              </a:spcAft>
            </a:pPr>
            <a:r>
              <a:rPr sz="1600" b="0">
                <a:solidFill>
                  <a:srgbClr val="FFFFFF"/>
                </a:solidFill>
                <a:latin typeface="Calibri"/>
              </a:rPr>
              <a:t>PyTorch</a:t>
            </a:r>
          </a:p>
        </p:txBody>
      </p:sp>
      <p:sp>
        <p:nvSpPr>
          <p:cNvPr id="8" name="Rounded Rectangle 7"/>
          <p:cNvSpPr/>
          <p:nvPr/>
        </p:nvSpPr>
        <p:spPr>
          <a:xfrm>
            <a:off x="2450592" y="1783080"/>
            <a:ext cx="1645920" cy="1554480"/>
          </a:xfrm>
          <a:prstGeom prst="roundRect">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0592" y="1828800"/>
            <a:ext cx="1645920" cy="457200"/>
          </a:xfrm>
          <a:prstGeom prst="rect">
            <a:avLst/>
          </a:prstGeom>
          <a:noFill/>
        </p:spPr>
        <p:txBody>
          <a:bodyPr wrap="square" anchor="t" lIns="45720" rIns="45720" tIns="27432" bIns="27432">
            <a:spAutoFit/>
          </a:bodyPr>
          <a:lstStyle/>
          <a:p>
            <a:pPr algn="ctr">
              <a:spcAft>
                <a:spcPts val="800"/>
              </a:spcAft>
            </a:pPr>
            <a:r>
              <a:rPr sz="2200" b="1">
                <a:solidFill>
                  <a:srgbClr val="FFFFFF"/>
                </a:solidFill>
                <a:latin typeface="Calibri"/>
              </a:rPr>
              <a:t>L1</a:t>
            </a:r>
          </a:p>
        </p:txBody>
      </p:sp>
      <p:sp>
        <p:nvSpPr>
          <p:cNvPr id="10" name="TextBox 9"/>
          <p:cNvSpPr txBox="1"/>
          <p:nvPr/>
        </p:nvSpPr>
        <p:spPr>
          <a:xfrm>
            <a:off x="2450592" y="2331720"/>
            <a:ext cx="1645920" cy="914400"/>
          </a:xfrm>
          <a:prstGeom prst="rect">
            <a:avLst/>
          </a:prstGeom>
          <a:noFill/>
        </p:spPr>
        <p:txBody>
          <a:bodyPr wrap="square" anchor="t" lIns="45720" rIns="45720" tIns="27432" bIns="27432">
            <a:spAutoFit/>
          </a:bodyPr>
          <a:lstStyle/>
          <a:p>
            <a:pPr algn="ctr">
              <a:spcAft>
                <a:spcPts val="800"/>
              </a:spcAft>
            </a:pPr>
            <a:r>
              <a:rPr sz="1600" b="0">
                <a:solidFill>
                  <a:srgbClr val="FFFFFF"/>
                </a:solidFill>
                <a:latin typeface="Calibri"/>
              </a:rPr>
              <a:t>torch.compile</a:t>
            </a:r>
          </a:p>
        </p:txBody>
      </p:sp>
      <p:sp>
        <p:nvSpPr>
          <p:cNvPr id="11" name="Rounded Rectangle 10"/>
          <p:cNvSpPr/>
          <p:nvPr/>
        </p:nvSpPr>
        <p:spPr>
          <a:xfrm>
            <a:off x="4352544" y="1783080"/>
            <a:ext cx="1645920" cy="1554480"/>
          </a:xfrm>
          <a:prstGeom prst="roundRect">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2544" y="1828800"/>
            <a:ext cx="1645920" cy="457200"/>
          </a:xfrm>
          <a:prstGeom prst="rect">
            <a:avLst/>
          </a:prstGeom>
          <a:noFill/>
        </p:spPr>
        <p:txBody>
          <a:bodyPr wrap="square" anchor="t" lIns="45720" rIns="45720" tIns="27432" bIns="27432">
            <a:spAutoFit/>
          </a:bodyPr>
          <a:lstStyle/>
          <a:p>
            <a:pPr algn="ctr">
              <a:spcAft>
                <a:spcPts val="800"/>
              </a:spcAft>
            </a:pPr>
            <a:r>
              <a:rPr sz="2200" b="1">
                <a:solidFill>
                  <a:srgbClr val="FFFFFF"/>
                </a:solidFill>
                <a:latin typeface="Calibri"/>
              </a:rPr>
              <a:t>L2</a:t>
            </a:r>
          </a:p>
        </p:txBody>
      </p:sp>
      <p:sp>
        <p:nvSpPr>
          <p:cNvPr id="13" name="TextBox 12"/>
          <p:cNvSpPr txBox="1"/>
          <p:nvPr/>
        </p:nvSpPr>
        <p:spPr>
          <a:xfrm>
            <a:off x="4352544" y="2331720"/>
            <a:ext cx="1645920" cy="914400"/>
          </a:xfrm>
          <a:prstGeom prst="rect">
            <a:avLst/>
          </a:prstGeom>
          <a:noFill/>
        </p:spPr>
        <p:txBody>
          <a:bodyPr wrap="square" anchor="t" lIns="45720" rIns="45720" tIns="27432" bIns="27432">
            <a:spAutoFit/>
          </a:bodyPr>
          <a:lstStyle/>
          <a:p>
            <a:pPr algn="ctr">
              <a:spcAft>
                <a:spcPts val="800"/>
              </a:spcAft>
            </a:pPr>
            <a:r>
              <a:rPr sz="1600" b="0">
                <a:solidFill>
                  <a:srgbClr val="FFFFFF"/>
                </a:solidFill>
                <a:latin typeface="Calibri"/>
              </a:rPr>
              <a:t>Triton</a:t>
            </a:r>
          </a:p>
          <a:p>
            <a:pPr algn="ctr">
              <a:spcAft>
                <a:spcPts val="800"/>
              </a:spcAft>
            </a:pPr>
            <a:r>
              <a:rPr sz="1600" b="0">
                <a:solidFill>
                  <a:srgbClr val="FFFFFF"/>
                </a:solidFill>
                <a:latin typeface="Calibri"/>
              </a:rPr>
              <a:t>(ours)</a:t>
            </a:r>
          </a:p>
        </p:txBody>
      </p:sp>
      <p:sp>
        <p:nvSpPr>
          <p:cNvPr id="14" name="Rounded Rectangle 13"/>
          <p:cNvSpPr/>
          <p:nvPr/>
        </p:nvSpPr>
        <p:spPr>
          <a:xfrm>
            <a:off x="6254496" y="1783080"/>
            <a:ext cx="1645920" cy="155448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1828800"/>
            <a:ext cx="1645920" cy="457200"/>
          </a:xfrm>
          <a:prstGeom prst="rect">
            <a:avLst/>
          </a:prstGeom>
          <a:noFill/>
        </p:spPr>
        <p:txBody>
          <a:bodyPr wrap="square" anchor="t" lIns="45720" rIns="45720" tIns="27432" bIns="27432">
            <a:spAutoFit/>
          </a:bodyPr>
          <a:lstStyle/>
          <a:p>
            <a:pPr algn="ctr">
              <a:spcAft>
                <a:spcPts val="800"/>
              </a:spcAft>
            </a:pPr>
            <a:r>
              <a:rPr sz="2200" b="1">
                <a:solidFill>
                  <a:srgbClr val="142B4D"/>
                </a:solidFill>
                <a:latin typeface="Calibri"/>
              </a:rPr>
              <a:t>L3</a:t>
            </a:r>
          </a:p>
        </p:txBody>
      </p:sp>
      <p:sp>
        <p:nvSpPr>
          <p:cNvPr id="16" name="TextBox 15"/>
          <p:cNvSpPr txBox="1"/>
          <p:nvPr/>
        </p:nvSpPr>
        <p:spPr>
          <a:xfrm>
            <a:off x="6254496" y="2331720"/>
            <a:ext cx="1645920" cy="914400"/>
          </a:xfrm>
          <a:prstGeom prst="rect">
            <a:avLst/>
          </a:prstGeom>
          <a:noFill/>
        </p:spPr>
        <p:txBody>
          <a:bodyPr wrap="square" anchor="t" lIns="45720" rIns="45720" tIns="27432" bIns="27432">
            <a:spAutoFit/>
          </a:bodyPr>
          <a:lstStyle/>
          <a:p>
            <a:pPr algn="ctr">
              <a:spcAft>
                <a:spcPts val="800"/>
              </a:spcAft>
            </a:pPr>
            <a:r>
              <a:rPr sz="1600" b="0">
                <a:solidFill>
                  <a:srgbClr val="142B4D"/>
                </a:solidFill>
                <a:latin typeface="Calibri"/>
              </a:rPr>
              <a:t>CUDA</a:t>
            </a:r>
          </a:p>
          <a:p>
            <a:pPr algn="ctr">
              <a:spcAft>
                <a:spcPts val="800"/>
              </a:spcAft>
            </a:pPr>
            <a:r>
              <a:rPr sz="1600" b="0">
                <a:solidFill>
                  <a:srgbClr val="142B4D"/>
                </a:solidFill>
                <a:latin typeface="Calibri"/>
              </a:rPr>
              <a:t>(ours)</a:t>
            </a:r>
          </a:p>
        </p:txBody>
      </p:sp>
      <p:sp>
        <p:nvSpPr>
          <p:cNvPr id="17" name="Rounded Rectangle 16"/>
          <p:cNvSpPr/>
          <p:nvPr/>
        </p:nvSpPr>
        <p:spPr>
          <a:xfrm>
            <a:off x="8156448" y="1783080"/>
            <a:ext cx="1645920" cy="155448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8" y="1828800"/>
            <a:ext cx="1645920" cy="457200"/>
          </a:xfrm>
          <a:prstGeom prst="rect">
            <a:avLst/>
          </a:prstGeom>
          <a:noFill/>
        </p:spPr>
        <p:txBody>
          <a:bodyPr wrap="square" anchor="t" lIns="45720" rIns="45720" tIns="27432" bIns="27432">
            <a:spAutoFit/>
          </a:bodyPr>
          <a:lstStyle/>
          <a:p>
            <a:pPr algn="ctr">
              <a:spcAft>
                <a:spcPts val="800"/>
              </a:spcAft>
            </a:pPr>
            <a:r>
              <a:rPr sz="2200" b="1">
                <a:solidFill>
                  <a:srgbClr val="142B4D"/>
                </a:solidFill>
                <a:latin typeface="Calibri"/>
              </a:rPr>
              <a:t>L4</a:t>
            </a:r>
          </a:p>
        </p:txBody>
      </p:sp>
      <p:sp>
        <p:nvSpPr>
          <p:cNvPr id="19" name="TextBox 18"/>
          <p:cNvSpPr txBox="1"/>
          <p:nvPr/>
        </p:nvSpPr>
        <p:spPr>
          <a:xfrm>
            <a:off x="8156448" y="2331720"/>
            <a:ext cx="1645920" cy="914400"/>
          </a:xfrm>
          <a:prstGeom prst="rect">
            <a:avLst/>
          </a:prstGeom>
          <a:noFill/>
        </p:spPr>
        <p:txBody>
          <a:bodyPr wrap="square" anchor="t" lIns="45720" rIns="45720" tIns="27432" bIns="27432">
            <a:spAutoFit/>
          </a:bodyPr>
          <a:lstStyle/>
          <a:p>
            <a:pPr algn="ctr">
              <a:spcAft>
                <a:spcPts val="800"/>
              </a:spcAft>
            </a:pPr>
            <a:r>
              <a:rPr sz="1600" b="0">
                <a:solidFill>
                  <a:srgbClr val="142B4D"/>
                </a:solidFill>
                <a:latin typeface="Calibri"/>
              </a:rPr>
              <a:t>HIP for AMD</a:t>
            </a:r>
          </a:p>
          <a:p>
            <a:pPr algn="ctr">
              <a:spcAft>
                <a:spcPts val="800"/>
              </a:spcAft>
            </a:pPr>
            <a:r>
              <a:rPr sz="1600" b="0">
                <a:solidFill>
                  <a:srgbClr val="142B4D"/>
                </a:solidFill>
                <a:latin typeface="Calibri"/>
              </a:rPr>
              <a:t>(ours)</a:t>
            </a:r>
          </a:p>
        </p:txBody>
      </p:sp>
      <p:sp>
        <p:nvSpPr>
          <p:cNvPr id="20" name="Rounded Rectangle 19"/>
          <p:cNvSpPr/>
          <p:nvPr/>
        </p:nvSpPr>
        <p:spPr>
          <a:xfrm>
            <a:off x="10058400" y="1783080"/>
            <a:ext cx="1645920" cy="155448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0" y="1828800"/>
            <a:ext cx="1645920" cy="457200"/>
          </a:xfrm>
          <a:prstGeom prst="rect">
            <a:avLst/>
          </a:prstGeom>
          <a:noFill/>
        </p:spPr>
        <p:txBody>
          <a:bodyPr wrap="square" anchor="t" lIns="45720" rIns="45720" tIns="27432" bIns="27432">
            <a:spAutoFit/>
          </a:bodyPr>
          <a:lstStyle/>
          <a:p>
            <a:pPr algn="ctr">
              <a:spcAft>
                <a:spcPts val="800"/>
              </a:spcAft>
            </a:pPr>
            <a:r>
              <a:rPr sz="2200" b="1">
                <a:solidFill>
                  <a:srgbClr val="142B4D"/>
                </a:solidFill>
                <a:latin typeface="Calibri"/>
              </a:rPr>
              <a:t>L5</a:t>
            </a:r>
          </a:p>
        </p:txBody>
      </p:sp>
      <p:sp>
        <p:nvSpPr>
          <p:cNvPr id="22" name="TextBox 21"/>
          <p:cNvSpPr txBox="1"/>
          <p:nvPr/>
        </p:nvSpPr>
        <p:spPr>
          <a:xfrm>
            <a:off x="10058400" y="2331720"/>
            <a:ext cx="1645920" cy="914400"/>
          </a:xfrm>
          <a:prstGeom prst="rect">
            <a:avLst/>
          </a:prstGeom>
          <a:noFill/>
        </p:spPr>
        <p:txBody>
          <a:bodyPr wrap="square" anchor="t" lIns="45720" rIns="45720" tIns="27432" bIns="27432">
            <a:spAutoFit/>
          </a:bodyPr>
          <a:lstStyle/>
          <a:p>
            <a:pPr algn="ctr">
              <a:spcAft>
                <a:spcPts val="800"/>
              </a:spcAft>
            </a:pPr>
            <a:r>
              <a:rPr sz="1600" b="0">
                <a:solidFill>
                  <a:srgbClr val="142B4D"/>
                </a:solidFill>
                <a:latin typeface="Calibri"/>
              </a:rPr>
              <a:t>PTX / SASS /</a:t>
            </a:r>
          </a:p>
          <a:p>
            <a:pPr algn="ctr">
              <a:spcAft>
                <a:spcPts val="800"/>
              </a:spcAft>
            </a:pPr>
            <a:r>
              <a:rPr sz="1600" b="0">
                <a:solidFill>
                  <a:srgbClr val="142B4D"/>
                </a:solidFill>
                <a:latin typeface="Calibri"/>
              </a:rPr>
              <a:t>AMDGCN</a:t>
            </a:r>
          </a:p>
        </p:txBody>
      </p:sp>
      <p:sp>
        <p:nvSpPr>
          <p:cNvPr id="23" name="TextBox 22"/>
          <p:cNvSpPr txBox="1"/>
          <p:nvPr/>
        </p:nvSpPr>
        <p:spPr>
          <a:xfrm>
            <a:off x="548640" y="3429000"/>
            <a:ext cx="10972800" cy="365760"/>
          </a:xfrm>
          <a:prstGeom prst="rect">
            <a:avLst/>
          </a:prstGeom>
          <a:noFill/>
        </p:spPr>
        <p:txBody>
          <a:bodyPr wrap="square" anchor="t" lIns="45720" rIns="45720" tIns="27432" bIns="27432">
            <a:spAutoFit/>
          </a:bodyPr>
          <a:lstStyle/>
          <a:p>
            <a:pPr algn="l">
              <a:spcAft>
                <a:spcPts val="800"/>
              </a:spcAft>
            </a:pPr>
            <a:r>
              <a:rPr sz="1400" b="0">
                <a:solidFill>
                  <a:srgbClr val="666666"/>
                </a:solidFill>
                <a:latin typeface="Calibri"/>
              </a:rPr>
              <a:t>Filled = done for our three kernels. We already read the NVIDIA and static AMD instructions for them (L5); CUDA and HIP versions (L3, L4) start next.</a:t>
            </a:r>
          </a:p>
        </p:txBody>
      </p:sp>
      <p:sp>
        <p:nvSpPr>
          <p:cNvPr id="24" name="Rounded Rectangle 23"/>
          <p:cNvSpPr/>
          <p:nvPr/>
        </p:nvSpPr>
        <p:spPr>
          <a:xfrm>
            <a:off x="548640" y="4069080"/>
            <a:ext cx="3566160" cy="192024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160520"/>
            <a:ext cx="3291840" cy="457200"/>
          </a:xfrm>
          <a:prstGeom prst="rect">
            <a:avLst/>
          </a:prstGeom>
          <a:noFill/>
        </p:spPr>
        <p:txBody>
          <a:bodyPr wrap="square" anchor="t" lIns="45720" rIns="45720" tIns="27432" bIns="27432">
            <a:spAutoFit/>
          </a:bodyPr>
          <a:lstStyle/>
          <a:p>
            <a:pPr algn="l">
              <a:spcAft>
                <a:spcPts val="800"/>
              </a:spcAft>
            </a:pPr>
            <a:r>
              <a:rPr sz="2000" b="1">
                <a:solidFill>
                  <a:srgbClr val="142B4D"/>
                </a:solidFill>
                <a:latin typeface="Calibri"/>
              </a:rPr>
              <a:t>Correctness gate</a:t>
            </a:r>
          </a:p>
        </p:txBody>
      </p:sp>
      <p:sp>
        <p:nvSpPr>
          <p:cNvPr id="26" name="TextBox 25"/>
          <p:cNvSpPr txBox="1"/>
          <p:nvPr/>
        </p:nvSpPr>
        <p:spPr>
          <a:xfrm>
            <a:off x="685800" y="4663440"/>
            <a:ext cx="3291840" cy="1280160"/>
          </a:xfrm>
          <a:prstGeom prst="rect">
            <a:avLst/>
          </a:prstGeom>
          <a:noFill/>
        </p:spPr>
        <p:txBody>
          <a:bodyPr wrap="square" anchor="t" lIns="45720" rIns="45720" tIns="27432" bIns="27432">
            <a:spAutoFit/>
          </a:bodyPr>
          <a:lstStyle/>
          <a:p>
            <a:pPr algn="l">
              <a:spcAft>
                <a:spcPts val="800"/>
              </a:spcAft>
            </a:pPr>
            <a:r>
              <a:rPr sz="1600" b="0">
                <a:solidFill>
                  <a:srgbClr val="222222"/>
                </a:solidFill>
                <a:latin typeface="Calibri"/>
              </a:rPr>
              <a:t>value and gradient checked against a 64-bit reference, and no worse than PyTorch's own error</a:t>
            </a:r>
          </a:p>
        </p:txBody>
      </p:sp>
      <p:sp>
        <p:nvSpPr>
          <p:cNvPr id="27" name="Rounded Rectangle 26"/>
          <p:cNvSpPr/>
          <p:nvPr/>
        </p:nvSpPr>
        <p:spPr>
          <a:xfrm>
            <a:off x="4297679" y="4069080"/>
            <a:ext cx="3566160" cy="192024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4160520"/>
            <a:ext cx="3291840" cy="457200"/>
          </a:xfrm>
          <a:prstGeom prst="rect">
            <a:avLst/>
          </a:prstGeom>
          <a:noFill/>
        </p:spPr>
        <p:txBody>
          <a:bodyPr wrap="square" anchor="t" lIns="45720" rIns="45720" tIns="27432" bIns="27432">
            <a:spAutoFit/>
          </a:bodyPr>
          <a:lstStyle/>
          <a:p>
            <a:pPr algn="l">
              <a:spcAft>
                <a:spcPts val="800"/>
              </a:spcAft>
            </a:pPr>
            <a:r>
              <a:rPr sz="2000" b="1">
                <a:solidFill>
                  <a:srgbClr val="142B4D"/>
                </a:solidFill>
                <a:latin typeface="Calibri"/>
              </a:rPr>
              <a:t>Timing rules</a:t>
            </a:r>
          </a:p>
        </p:txBody>
      </p:sp>
      <p:sp>
        <p:nvSpPr>
          <p:cNvPr id="29" name="TextBox 28"/>
          <p:cNvSpPr txBox="1"/>
          <p:nvPr/>
        </p:nvSpPr>
        <p:spPr>
          <a:xfrm>
            <a:off x="4434840" y="4663440"/>
            <a:ext cx="3291840" cy="1280160"/>
          </a:xfrm>
          <a:prstGeom prst="rect">
            <a:avLst/>
          </a:prstGeom>
          <a:noFill/>
        </p:spPr>
        <p:txBody>
          <a:bodyPr wrap="square" anchor="t" lIns="45720" rIns="45720" tIns="27432" bIns="27432">
            <a:spAutoFit/>
          </a:bodyPr>
          <a:lstStyle/>
          <a:p>
            <a:pPr algn="l">
              <a:spcAft>
                <a:spcPts val="800"/>
              </a:spcAft>
            </a:pPr>
            <a:r>
              <a:rPr sz="1600" b="0">
                <a:solidFill>
                  <a:srgbClr val="222222"/>
                </a:solidFill>
                <a:latin typeface="Calibri"/>
              </a:rPr>
              <a:t>GPU events, L2 cache flushed, 3 separate processes, bootstrap confidence intervals</a:t>
            </a:r>
          </a:p>
        </p:txBody>
      </p:sp>
      <p:sp>
        <p:nvSpPr>
          <p:cNvPr id="30" name="Rounded Rectangle 29"/>
          <p:cNvSpPr/>
          <p:nvPr/>
        </p:nvSpPr>
        <p:spPr>
          <a:xfrm>
            <a:off x="8046719" y="4069080"/>
            <a:ext cx="3566160" cy="192024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79" y="4160520"/>
            <a:ext cx="3291840" cy="457200"/>
          </a:xfrm>
          <a:prstGeom prst="rect">
            <a:avLst/>
          </a:prstGeom>
          <a:noFill/>
        </p:spPr>
        <p:txBody>
          <a:bodyPr wrap="square" anchor="t" lIns="45720" rIns="45720" tIns="27432" bIns="27432">
            <a:spAutoFit/>
          </a:bodyPr>
          <a:lstStyle/>
          <a:p>
            <a:pPr algn="l">
              <a:spcAft>
                <a:spcPts val="800"/>
              </a:spcAft>
            </a:pPr>
            <a:r>
              <a:rPr sz="2000" b="1">
                <a:solidFill>
                  <a:srgbClr val="142B4D"/>
                </a:solidFill>
                <a:latin typeface="Calibri"/>
              </a:rPr>
              <a:t>Fair comparison</a:t>
            </a:r>
          </a:p>
        </p:txBody>
      </p:sp>
      <p:sp>
        <p:nvSpPr>
          <p:cNvPr id="32" name="TextBox 31"/>
          <p:cNvSpPr txBox="1"/>
          <p:nvPr/>
        </p:nvSpPr>
        <p:spPr>
          <a:xfrm>
            <a:off x="8183879" y="4663440"/>
            <a:ext cx="3291840" cy="1280160"/>
          </a:xfrm>
          <a:prstGeom prst="rect">
            <a:avLst/>
          </a:prstGeom>
          <a:noFill/>
        </p:spPr>
        <p:txBody>
          <a:bodyPr wrap="square" anchor="t" lIns="45720" rIns="45720" tIns="27432" bIns="27432">
            <a:spAutoFit/>
          </a:bodyPr>
          <a:lstStyle/>
          <a:p>
            <a:pPr algn="l">
              <a:spcAft>
                <a:spcPts val="800"/>
              </a:spcAft>
            </a:pPr>
            <a:r>
              <a:rPr sz="1600" b="0">
                <a:solidFill>
                  <a:srgbClr val="222222"/>
                </a:solidFill>
                <a:latin typeface="Calibri"/>
              </a:rPr>
              <a:t>baselines run in the same job on the same GPU; only gated rows are plotted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11094415" cy="1051560"/>
          </a:xfrm>
          <a:prstGeom prst="rect">
            <a:avLst/>
          </a:prstGeom>
          <a:noFill/>
        </p:spPr>
        <p:txBody>
          <a:bodyPr wrap="square" anchor="ctr" lIns="45720" rIns="45720" tIns="27432" bIns="27432">
            <a:spAutoFit/>
          </a:bodyPr>
          <a:lstStyle/>
          <a:p>
            <a:pPr algn="l">
              <a:spcAft>
                <a:spcPts val="800"/>
              </a:spcAft>
            </a:pPr>
            <a:r>
              <a:rPr sz="3000" b="1">
                <a:solidFill>
                  <a:srgbClr val="142B4D"/>
                </a:solidFill>
                <a:latin typeface="Calibri"/>
              </a:rPr>
              <a:t>Baseline: compile already halves the step; the loss and norms are what remains</a:t>
            </a:r>
          </a:p>
        </p:txBody>
      </p:sp>
      <p:sp>
        <p:nvSpPr>
          <p:cNvPr id="3" name="TextBox 2"/>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800"/>
              </a:spcAft>
            </a:pPr>
            <a:r>
              <a:rPr sz="1100" b="0">
                <a:solidFill>
                  <a:srgbClr val="666666"/>
                </a:solidFill>
                <a:latin typeface="Calibri"/>
              </a:rPr>
              <a:t>CISC662 | Optimizing nanochat down to the assembly level</a:t>
            </a:r>
          </a:p>
        </p:txBody>
      </p:sp>
      <p:sp>
        <p:nvSpPr>
          <p:cNvPr id="4" name="TextBox 3"/>
          <p:cNvSpPr txBox="1"/>
          <p:nvPr/>
        </p:nvSpPr>
        <p:spPr>
          <a:xfrm>
            <a:off x="10911535" y="6446520"/>
            <a:ext cx="731520" cy="274320"/>
          </a:xfrm>
          <a:prstGeom prst="rect">
            <a:avLst/>
          </a:prstGeom>
          <a:noFill/>
        </p:spPr>
        <p:txBody>
          <a:bodyPr wrap="square" anchor="t" lIns="45720" rIns="45720" tIns="27432" bIns="27432">
            <a:spAutoFit/>
          </a:bodyPr>
          <a:lstStyle/>
          <a:p>
            <a:pPr algn="r">
              <a:spcAft>
                <a:spcPts val="800"/>
              </a:spcAft>
            </a:pPr>
            <a:r>
              <a:rPr sz="1100" b="0">
                <a:solidFill>
                  <a:srgbClr val="666666"/>
                </a:solidFill>
                <a:latin typeface="Calibri"/>
              </a:rPr>
              <a:t>5</a:t>
            </a:r>
          </a:p>
        </p:txBody>
      </p:sp>
      <p:pic>
        <p:nvPicPr>
          <p:cNvPr id="5" name="Picture 4" descr="s1_kernel_breakdown.png"/>
          <p:cNvPicPr>
            <a:picLocks noChangeAspect="1"/>
          </p:cNvPicPr>
          <p:nvPr/>
        </p:nvPicPr>
        <p:blipFill>
          <a:blip r:embed="rId3"/>
          <a:stretch>
            <a:fillRect/>
          </a:stretch>
        </p:blipFill>
        <p:spPr>
          <a:xfrm>
            <a:off x="457200" y="1936701"/>
            <a:ext cx="7680960" cy="3807556"/>
          </a:xfrm>
          <a:prstGeom prst="rect">
            <a:avLst/>
          </a:prstGeom>
        </p:spPr>
      </p:pic>
      <p:sp>
        <p:nvSpPr>
          <p:cNvPr id="6" name="Rounded Rectangle 5"/>
          <p:cNvSpPr/>
          <p:nvPr/>
        </p:nvSpPr>
        <p:spPr>
          <a:xfrm>
            <a:off x="8412480" y="1600200"/>
            <a:ext cx="3291840" cy="123444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0" y="1673352"/>
            <a:ext cx="3291840" cy="640080"/>
          </a:xfrm>
          <a:prstGeom prst="rect">
            <a:avLst/>
          </a:prstGeom>
          <a:noFill/>
        </p:spPr>
        <p:txBody>
          <a:bodyPr wrap="square" anchor="ctr" lIns="45720" rIns="45720" tIns="27432" bIns="27432">
            <a:spAutoFit/>
          </a:bodyPr>
          <a:lstStyle/>
          <a:p>
            <a:pPr algn="ctr">
              <a:spcAft>
                <a:spcPts val="800"/>
              </a:spcAft>
            </a:pPr>
            <a:r>
              <a:rPr sz="3400" b="1">
                <a:solidFill>
                  <a:srgbClr val="2A7DE1"/>
                </a:solidFill>
                <a:latin typeface="Calibri"/>
              </a:rPr>
              <a:t>8.05 s</a:t>
            </a:r>
          </a:p>
        </p:txBody>
      </p:sp>
      <p:sp>
        <p:nvSpPr>
          <p:cNvPr id="8" name="TextBox 7"/>
          <p:cNvSpPr txBox="1"/>
          <p:nvPr/>
        </p:nvSpPr>
        <p:spPr>
          <a:xfrm>
            <a:off x="8503919" y="2313432"/>
            <a:ext cx="3108960" cy="502920"/>
          </a:xfrm>
          <a:prstGeom prst="rect">
            <a:avLst/>
          </a:prstGeom>
          <a:noFill/>
        </p:spPr>
        <p:txBody>
          <a:bodyPr wrap="square" anchor="t" lIns="45720" rIns="45720" tIns="27432" bIns="27432">
            <a:spAutoFit/>
          </a:bodyPr>
          <a:lstStyle/>
          <a:p>
            <a:pPr algn="ctr">
              <a:spcAft>
                <a:spcPts val="800"/>
              </a:spcAft>
            </a:pPr>
            <a:r>
              <a:rPr sz="1300" b="0">
                <a:solidFill>
                  <a:srgbClr val="666666"/>
                </a:solidFill>
                <a:latin typeface="Calibri"/>
              </a:rPr>
              <a:t>per 100 steps, torch.compile + FA3 (stock)</a:t>
            </a:r>
          </a:p>
        </p:txBody>
      </p:sp>
      <p:sp>
        <p:nvSpPr>
          <p:cNvPr id="9" name="Rounded Rectangle 8"/>
          <p:cNvSpPr/>
          <p:nvPr/>
        </p:nvSpPr>
        <p:spPr>
          <a:xfrm>
            <a:off x="8412480" y="3017520"/>
            <a:ext cx="3291840" cy="123444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3090672"/>
            <a:ext cx="3291840" cy="640080"/>
          </a:xfrm>
          <a:prstGeom prst="rect">
            <a:avLst/>
          </a:prstGeom>
          <a:noFill/>
        </p:spPr>
        <p:txBody>
          <a:bodyPr wrap="square" anchor="ctr" lIns="45720" rIns="45720" tIns="27432" bIns="27432">
            <a:spAutoFit/>
          </a:bodyPr>
          <a:lstStyle/>
          <a:p>
            <a:pPr algn="ctr">
              <a:spcAft>
                <a:spcPts val="800"/>
              </a:spcAft>
            </a:pPr>
            <a:r>
              <a:rPr sz="3400" b="1">
                <a:solidFill>
                  <a:srgbClr val="666666"/>
                </a:solidFill>
                <a:latin typeface="Calibri"/>
              </a:rPr>
              <a:t>15.08 s</a:t>
            </a:r>
          </a:p>
        </p:txBody>
      </p:sp>
      <p:sp>
        <p:nvSpPr>
          <p:cNvPr id="11" name="TextBox 10"/>
          <p:cNvSpPr txBox="1"/>
          <p:nvPr/>
        </p:nvSpPr>
        <p:spPr>
          <a:xfrm>
            <a:off x="8503919" y="3730752"/>
            <a:ext cx="3108960" cy="502920"/>
          </a:xfrm>
          <a:prstGeom prst="rect">
            <a:avLst/>
          </a:prstGeom>
          <a:noFill/>
        </p:spPr>
        <p:txBody>
          <a:bodyPr wrap="square" anchor="t" lIns="45720" rIns="45720" tIns="27432" bIns="27432">
            <a:spAutoFit/>
          </a:bodyPr>
          <a:lstStyle/>
          <a:p>
            <a:pPr algn="ctr">
              <a:spcAft>
                <a:spcPts val="800"/>
              </a:spcAft>
            </a:pPr>
            <a:r>
              <a:rPr sz="1300" b="0">
                <a:solidFill>
                  <a:srgbClr val="666666"/>
                </a:solidFill>
                <a:latin typeface="Calibri"/>
              </a:rPr>
              <a:t>per 100 steps, eager PyTorch + FA3</a:t>
            </a:r>
          </a:p>
        </p:txBody>
      </p:sp>
      <p:sp>
        <p:nvSpPr>
          <p:cNvPr id="12" name="Rounded Rectangle 11"/>
          <p:cNvSpPr/>
          <p:nvPr/>
        </p:nvSpPr>
        <p:spPr>
          <a:xfrm>
            <a:off x="8412480" y="4434840"/>
            <a:ext cx="3291840" cy="123444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4507992"/>
            <a:ext cx="3291840" cy="640080"/>
          </a:xfrm>
          <a:prstGeom prst="rect">
            <a:avLst/>
          </a:prstGeom>
          <a:noFill/>
        </p:spPr>
        <p:txBody>
          <a:bodyPr wrap="square" anchor="ctr" lIns="45720" rIns="45720" tIns="27432" bIns="27432">
            <a:spAutoFit/>
          </a:bodyPr>
          <a:lstStyle/>
          <a:p>
            <a:pPr algn="ctr">
              <a:spcAft>
                <a:spcPts val="800"/>
              </a:spcAft>
            </a:pPr>
            <a:r>
              <a:rPr sz="3400" b="1">
                <a:solidFill>
                  <a:srgbClr val="D98C2B"/>
                </a:solidFill>
                <a:latin typeface="Calibri"/>
              </a:rPr>
              <a:t>37%</a:t>
            </a:r>
          </a:p>
        </p:txBody>
      </p:sp>
      <p:sp>
        <p:nvSpPr>
          <p:cNvPr id="14" name="TextBox 13"/>
          <p:cNvSpPr txBox="1"/>
          <p:nvPr/>
        </p:nvSpPr>
        <p:spPr>
          <a:xfrm>
            <a:off x="8503919" y="5148072"/>
            <a:ext cx="3108960" cy="502920"/>
          </a:xfrm>
          <a:prstGeom prst="rect">
            <a:avLst/>
          </a:prstGeom>
          <a:noFill/>
        </p:spPr>
        <p:txBody>
          <a:bodyPr wrap="square" anchor="t" lIns="45720" rIns="45720" tIns="27432" bIns="27432">
            <a:spAutoFit/>
          </a:bodyPr>
          <a:lstStyle/>
          <a:p>
            <a:pPr algn="ctr">
              <a:spcAft>
                <a:spcPts val="800"/>
              </a:spcAft>
            </a:pPr>
            <a:r>
              <a:rPr sz="1300" b="0">
                <a:solidFill>
                  <a:srgbClr val="666666"/>
                </a:solidFill>
                <a:latin typeface="Calibri"/>
              </a:rPr>
              <a:t>model FLOP utilisation of the compiled baseline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11094415" cy="1051560"/>
          </a:xfrm>
          <a:prstGeom prst="rect">
            <a:avLst/>
          </a:prstGeom>
          <a:noFill/>
        </p:spPr>
        <p:txBody>
          <a:bodyPr wrap="square" anchor="ctr" lIns="45720" rIns="45720" tIns="27432" bIns="27432">
            <a:spAutoFit/>
          </a:bodyPr>
          <a:lstStyle/>
          <a:p>
            <a:pPr algn="l">
              <a:spcAft>
                <a:spcPts val="800"/>
              </a:spcAft>
            </a:pPr>
            <a:r>
              <a:rPr sz="3000" b="1">
                <a:solidFill>
                  <a:srgbClr val="142B4D"/>
                </a:solidFill>
                <a:latin typeface="Calibri"/>
              </a:rPr>
              <a:t>First results: up to 2x over torch.compile and 12x over eager, with an honest tie</a:t>
            </a:r>
          </a:p>
        </p:txBody>
      </p:sp>
      <p:sp>
        <p:nvSpPr>
          <p:cNvPr id="3" name="TextBox 2"/>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800"/>
              </a:spcAft>
            </a:pPr>
            <a:r>
              <a:rPr sz="1100" b="0">
                <a:solidFill>
                  <a:srgbClr val="666666"/>
                </a:solidFill>
                <a:latin typeface="Calibri"/>
              </a:rPr>
              <a:t>CISC662 | Optimizing nanochat down to the assembly level</a:t>
            </a:r>
          </a:p>
        </p:txBody>
      </p:sp>
      <p:sp>
        <p:nvSpPr>
          <p:cNvPr id="4" name="TextBox 3"/>
          <p:cNvSpPr txBox="1"/>
          <p:nvPr/>
        </p:nvSpPr>
        <p:spPr>
          <a:xfrm>
            <a:off x="10911535" y="6446520"/>
            <a:ext cx="731520" cy="274320"/>
          </a:xfrm>
          <a:prstGeom prst="rect">
            <a:avLst/>
          </a:prstGeom>
          <a:noFill/>
        </p:spPr>
        <p:txBody>
          <a:bodyPr wrap="square" anchor="t" lIns="45720" rIns="45720" tIns="27432" bIns="27432">
            <a:spAutoFit/>
          </a:bodyPr>
          <a:lstStyle/>
          <a:p>
            <a:pPr algn="r">
              <a:spcAft>
                <a:spcPts val="800"/>
              </a:spcAft>
            </a:pPr>
            <a:r>
              <a:rPr sz="1100" b="0">
                <a:solidFill>
                  <a:srgbClr val="666666"/>
                </a:solidFill>
                <a:latin typeface="Calibri"/>
              </a:rPr>
              <a:t>6</a:t>
            </a:r>
          </a:p>
        </p:txBody>
      </p:sp>
      <p:pic>
        <p:nvPicPr>
          <p:cNvPr id="5" name="Picture 4" descr="p1_kernel_speedups.png"/>
          <p:cNvPicPr>
            <a:picLocks noChangeAspect="1"/>
          </p:cNvPicPr>
          <p:nvPr/>
        </p:nvPicPr>
        <p:blipFill>
          <a:blip r:embed="rId3"/>
          <a:stretch>
            <a:fillRect/>
          </a:stretch>
        </p:blipFill>
        <p:spPr>
          <a:xfrm>
            <a:off x="365760" y="1867204"/>
            <a:ext cx="7589520" cy="3946550"/>
          </a:xfrm>
          <a:prstGeom prst="rect">
            <a:avLst/>
          </a:prstGeom>
        </p:spPr>
      </p:pic>
      <p:sp>
        <p:nvSpPr>
          <p:cNvPr id="6" name="TextBox 5"/>
          <p:cNvSpPr txBox="1"/>
          <p:nvPr/>
        </p:nvSpPr>
        <p:spPr>
          <a:xfrm>
            <a:off x="8138160" y="1645920"/>
            <a:ext cx="3657600" cy="4480560"/>
          </a:xfrm>
          <a:prstGeom prst="rect">
            <a:avLst/>
          </a:prstGeom>
          <a:noFill/>
        </p:spPr>
        <p:txBody>
          <a:bodyPr wrap="square" anchor="t" lIns="45720" rIns="45720" tIns="27432" bIns="27432">
            <a:spAutoFit/>
          </a:bodyPr>
          <a:lstStyle/>
          <a:p>
            <a:pPr algn="l">
              <a:spcAft>
                <a:spcPts val="800"/>
              </a:spcAft>
            </a:pPr>
            <a:r>
              <a:rPr sz="1700" b="1">
                <a:solidFill>
                  <a:srgbClr val="142B4D"/>
                </a:solidFill>
                <a:latin typeface="Calibri"/>
              </a:rPr>
              <a:t>Loss kernel: </a:t>
            </a:r>
            <a:r>
              <a:rPr sz="1700" b="0">
                <a:solidFill>
                  <a:srgbClr val="222222"/>
                </a:solidFill>
                <a:latin typeface="Calibri"/>
              </a:rPr>
              <a:t>1.56x vs compile, 12.1x vs eager, 8x less memory (2.15 vs 17.2 GB)</a:t>
            </a:r>
          </a:p>
          <a:p>
            <a:pPr algn="l">
              <a:spcAft>
                <a:spcPts val="800"/>
              </a:spcAft>
            </a:pPr>
            <a:r>
              <a:rPr sz="1700" b="1">
                <a:solidFill>
                  <a:srgbClr val="142B4D"/>
                </a:solidFill>
                <a:latin typeface="Calibri"/>
              </a:rPr>
              <a:t>QK-norm + RoPE: </a:t>
            </a:r>
            <a:r>
              <a:rPr sz="1700" b="0">
                <a:solidFill>
                  <a:srgbClr val="222222"/>
                </a:solidFill>
                <a:latin typeface="Calibri"/>
              </a:rPr>
              <a:t>2.08x vs compile</a:t>
            </a:r>
          </a:p>
          <a:p>
            <a:pPr algn="l">
              <a:spcAft>
                <a:spcPts val="800"/>
              </a:spcAft>
            </a:pPr>
            <a:r>
              <a:rPr sz="1700" b="1">
                <a:solidFill>
                  <a:srgbClr val="142B4D"/>
                </a:solidFill>
                <a:latin typeface="Calibri"/>
              </a:rPr>
              <a:t>RMSNorm: </a:t>
            </a:r>
            <a:r>
              <a:rPr sz="1700" b="0">
                <a:solidFill>
                  <a:srgbClr val="222222"/>
                </a:solidFill>
                <a:latin typeface="Calibri"/>
              </a:rPr>
              <a:t>1.18x at 768 wide; a tie (0.96x) at 128 wide</a:t>
            </a:r>
          </a:p>
          <a:p>
            <a:pPr algn="l">
              <a:spcAft>
                <a:spcPts val="800"/>
              </a:spcAft>
            </a:pPr>
            <a:r>
              <a:rPr sz="1700" b="0">
                <a:solidFill>
                  <a:srgbClr val="666666"/>
                </a:solidFill>
                <a:latin typeface="Calibri"/>
              </a:rPr>
              <a:t>All kernels passed correctness gates.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11094415" cy="1051560"/>
          </a:xfrm>
          <a:prstGeom prst="rect">
            <a:avLst/>
          </a:prstGeom>
          <a:noFill/>
        </p:spPr>
        <p:txBody>
          <a:bodyPr wrap="square" anchor="ctr" lIns="45720" rIns="45720" tIns="27432" bIns="27432">
            <a:spAutoFit/>
          </a:bodyPr>
          <a:lstStyle/>
          <a:p>
            <a:pPr algn="l">
              <a:spcAft>
                <a:spcPts val="800"/>
              </a:spcAft>
            </a:pPr>
            <a:r>
              <a:rPr sz="3000" b="1">
                <a:solidFill>
                  <a:srgbClr val="142B4D"/>
                </a:solidFill>
                <a:latin typeface="Calibri"/>
              </a:rPr>
              <a:t>The machine code explains it: the loss kernel is limited by exp units, not memory</a:t>
            </a:r>
          </a:p>
        </p:txBody>
      </p:sp>
      <p:sp>
        <p:nvSpPr>
          <p:cNvPr id="3" name="TextBox 2"/>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800"/>
              </a:spcAft>
            </a:pPr>
            <a:r>
              <a:rPr sz="1100" b="0">
                <a:solidFill>
                  <a:srgbClr val="666666"/>
                </a:solidFill>
                <a:latin typeface="Calibri"/>
              </a:rPr>
              <a:t>CISC662 | Optimizing nanochat down to the assembly level</a:t>
            </a:r>
          </a:p>
        </p:txBody>
      </p:sp>
      <p:sp>
        <p:nvSpPr>
          <p:cNvPr id="4" name="TextBox 3"/>
          <p:cNvSpPr txBox="1"/>
          <p:nvPr/>
        </p:nvSpPr>
        <p:spPr>
          <a:xfrm>
            <a:off x="10911535" y="6446520"/>
            <a:ext cx="731520" cy="274320"/>
          </a:xfrm>
          <a:prstGeom prst="rect">
            <a:avLst/>
          </a:prstGeom>
          <a:noFill/>
        </p:spPr>
        <p:txBody>
          <a:bodyPr wrap="square" anchor="t" lIns="45720" rIns="45720" tIns="27432" bIns="27432">
            <a:spAutoFit/>
          </a:bodyPr>
          <a:lstStyle/>
          <a:p>
            <a:pPr algn="r">
              <a:spcAft>
                <a:spcPts val="800"/>
              </a:spcAft>
            </a:pPr>
            <a:r>
              <a:rPr sz="1100" b="0">
                <a:solidFill>
                  <a:srgbClr val="666666"/>
                </a:solidFill>
                <a:latin typeface="Calibri"/>
              </a:rPr>
              <a:t>7</a:t>
            </a:r>
          </a:p>
        </p:txBody>
      </p:sp>
      <p:pic>
        <p:nvPicPr>
          <p:cNvPr id="5" name="Picture 4" descr="p1_ce_bounds.png"/>
          <p:cNvPicPr>
            <a:picLocks noChangeAspect="1"/>
          </p:cNvPicPr>
          <p:nvPr/>
        </p:nvPicPr>
        <p:blipFill>
          <a:blip r:embed="rId3"/>
          <a:stretch>
            <a:fillRect/>
          </a:stretch>
        </p:blipFill>
        <p:spPr>
          <a:xfrm>
            <a:off x="365760" y="1633160"/>
            <a:ext cx="5943600" cy="3317358"/>
          </a:xfrm>
          <a:prstGeom prst="rect">
            <a:avLst/>
          </a:prstGeom>
        </p:spPr>
      </p:pic>
      <p:pic>
        <p:nvPicPr>
          <p:cNvPr id="6" name="Picture 5" descr="p1_bandwidth.png"/>
          <p:cNvPicPr>
            <a:picLocks noChangeAspect="1"/>
          </p:cNvPicPr>
          <p:nvPr/>
        </p:nvPicPr>
        <p:blipFill>
          <a:blip r:embed="rId4"/>
          <a:stretch>
            <a:fillRect/>
          </a:stretch>
        </p:blipFill>
        <p:spPr>
          <a:xfrm>
            <a:off x="6309360" y="1735233"/>
            <a:ext cx="5577840" cy="3113213"/>
          </a:xfrm>
          <a:prstGeom prst="rect">
            <a:avLst/>
          </a:prstGeom>
        </p:spPr>
      </p:pic>
      <p:sp>
        <p:nvSpPr>
          <p:cNvPr id="7" name="TextBox 6"/>
          <p:cNvSpPr txBox="1"/>
          <p:nvPr/>
        </p:nvSpPr>
        <p:spPr>
          <a:xfrm>
            <a:off x="548640" y="5257800"/>
            <a:ext cx="11155680" cy="1097280"/>
          </a:xfrm>
          <a:prstGeom prst="rect">
            <a:avLst/>
          </a:prstGeom>
          <a:noFill/>
        </p:spPr>
        <p:txBody>
          <a:bodyPr wrap="square" anchor="t" lIns="45720" rIns="45720" tIns="27432" bIns="27432">
            <a:spAutoFit/>
          </a:bodyPr>
          <a:lstStyle/>
          <a:p>
            <a:pPr algn="l">
              <a:spcAft>
                <a:spcPts val="800"/>
              </a:spcAft>
            </a:pPr>
            <a:r>
              <a:rPr sz="1600" b="1">
                <a:solidFill>
                  <a:srgbClr val="142B4D"/>
                </a:solidFill>
                <a:latin typeface="Calibri"/>
              </a:rPr>
              <a:t>Evidence: </a:t>
            </a:r>
            <a:r>
              <a:rPr sz="1600" b="0">
                <a:solidFill>
                  <a:srgbClr val="222222"/>
                </a:solidFill>
                <a:latin typeface="Calibri"/>
              </a:rPr>
              <a:t>SASS has 33 EX2 + 20 RCP per 16 logits (about 3.3 special-function ops per logit). Compute floor 0.95 ms &gt; memory floor 0.59 ms; measured 1.18 ms. Other kernels sit at 82-98% of the 3.65 TB/s measured bandwidth (Nsight Compute).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11094415" cy="1051560"/>
          </a:xfrm>
          <a:prstGeom prst="rect">
            <a:avLst/>
          </a:prstGeom>
          <a:noFill/>
        </p:spPr>
        <p:txBody>
          <a:bodyPr wrap="square" anchor="ctr" lIns="45720" rIns="45720" tIns="27432" bIns="27432">
            <a:spAutoFit/>
          </a:bodyPr>
          <a:lstStyle/>
          <a:p>
            <a:pPr algn="l">
              <a:spcAft>
                <a:spcPts val="800"/>
              </a:spcAft>
            </a:pPr>
            <a:r>
              <a:rPr sz="3000" b="1">
                <a:solidFill>
                  <a:srgbClr val="142B4D"/>
                </a:solidFill>
                <a:latin typeface="Calibri"/>
              </a:rPr>
              <a:t>Plan to December 17, and the one real risk</a:t>
            </a:r>
          </a:p>
        </p:txBody>
      </p:sp>
      <p:sp>
        <p:nvSpPr>
          <p:cNvPr id="3" name="TextBox 2"/>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800"/>
              </a:spcAft>
            </a:pPr>
            <a:r>
              <a:rPr sz="1100" b="0">
                <a:solidFill>
                  <a:srgbClr val="666666"/>
                </a:solidFill>
                <a:latin typeface="Calibri"/>
              </a:rPr>
              <a:t>CISC662 | Optimizing nanochat down to the assembly level</a:t>
            </a:r>
          </a:p>
        </p:txBody>
      </p:sp>
      <p:sp>
        <p:nvSpPr>
          <p:cNvPr id="4" name="TextBox 3"/>
          <p:cNvSpPr txBox="1"/>
          <p:nvPr/>
        </p:nvSpPr>
        <p:spPr>
          <a:xfrm>
            <a:off x="10911535" y="6446520"/>
            <a:ext cx="731520" cy="274320"/>
          </a:xfrm>
          <a:prstGeom prst="rect">
            <a:avLst/>
          </a:prstGeom>
          <a:noFill/>
        </p:spPr>
        <p:txBody>
          <a:bodyPr wrap="square" anchor="t" lIns="45720" rIns="45720" tIns="27432" bIns="27432">
            <a:spAutoFit/>
          </a:bodyPr>
          <a:lstStyle/>
          <a:p>
            <a:pPr algn="r">
              <a:spcAft>
                <a:spcPts val="800"/>
              </a:spcAft>
            </a:pPr>
            <a:r>
              <a:rPr sz="1100" b="0">
                <a:solidFill>
                  <a:srgbClr val="666666"/>
                </a:solidFill>
                <a:latin typeface="Calibri"/>
              </a:rPr>
              <a:t>8</a:t>
            </a:r>
          </a:p>
        </p:txBody>
      </p:sp>
      <p:sp>
        <p:nvSpPr>
          <p:cNvPr id="5" name="Rounded Rectangle 4"/>
          <p:cNvSpPr/>
          <p:nvPr/>
        </p:nvSpPr>
        <p:spPr>
          <a:xfrm>
            <a:off x="640080" y="1691640"/>
            <a:ext cx="2377440" cy="731520"/>
          </a:xfrm>
          <a:prstGeom prst="roundRect">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2377440" cy="731520"/>
          </a:xfrm>
          <a:prstGeom prst="rect">
            <a:avLst/>
          </a:prstGeom>
          <a:noFill/>
        </p:spPr>
        <p:txBody>
          <a:bodyPr wrap="square" anchor="ctr" lIns="45720" rIns="45720" tIns="27432" bIns="27432">
            <a:spAutoFit/>
          </a:bodyPr>
          <a:lstStyle/>
          <a:p>
            <a:pPr algn="ctr">
              <a:spcAft>
                <a:spcPts val="800"/>
              </a:spcAft>
            </a:pPr>
            <a:r>
              <a:rPr sz="1800" b="1">
                <a:solidFill>
                  <a:srgbClr val="FFFFFF"/>
                </a:solidFill>
                <a:latin typeface="Calibri"/>
              </a:rPr>
              <a:t>Now to Nov 20</a:t>
            </a:r>
          </a:p>
        </p:txBody>
      </p:sp>
      <p:sp>
        <p:nvSpPr>
          <p:cNvPr id="7" name="TextBox 6"/>
          <p:cNvSpPr txBox="1"/>
          <p:nvPr/>
        </p:nvSpPr>
        <p:spPr>
          <a:xfrm>
            <a:off x="3200400" y="1691640"/>
            <a:ext cx="4846320" cy="822960"/>
          </a:xfrm>
          <a:prstGeom prst="rect">
            <a:avLst/>
          </a:prstGeom>
          <a:noFill/>
        </p:spPr>
        <p:txBody>
          <a:bodyPr wrap="square" anchor="ctr" lIns="45720" rIns="45720" tIns="27432" bIns="27432">
            <a:spAutoFit/>
          </a:bodyPr>
          <a:lstStyle/>
          <a:p>
            <a:pPr algn="l">
              <a:spcAft>
                <a:spcPts val="800"/>
              </a:spcAft>
            </a:pPr>
            <a:r>
              <a:rPr sz="1600" b="0">
                <a:solidFill>
                  <a:srgbClr val="222222"/>
                </a:solidFill>
                <a:latin typeface="Calibri"/>
              </a:rPr>
              <a:t>Chunked loss + output layer, Triton GEMM and attention study, CUDA RMSNorm / RoPE</a:t>
            </a:r>
          </a:p>
        </p:txBody>
      </p:sp>
      <p:sp>
        <p:nvSpPr>
          <p:cNvPr id="8" name="Rounded Rectangle 7"/>
          <p:cNvSpPr/>
          <p:nvPr/>
        </p:nvSpPr>
        <p:spPr>
          <a:xfrm>
            <a:off x="640080" y="2606040"/>
            <a:ext cx="2377440" cy="731520"/>
          </a:xfrm>
          <a:prstGeom prst="roundRect">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606040"/>
            <a:ext cx="2377440" cy="731520"/>
          </a:xfrm>
          <a:prstGeom prst="rect">
            <a:avLst/>
          </a:prstGeom>
          <a:noFill/>
        </p:spPr>
        <p:txBody>
          <a:bodyPr wrap="square" anchor="ctr" lIns="45720" rIns="45720" tIns="27432" bIns="27432">
            <a:spAutoFit/>
          </a:bodyPr>
          <a:lstStyle/>
          <a:p>
            <a:pPr algn="ctr">
              <a:spcAft>
                <a:spcPts val="800"/>
              </a:spcAft>
            </a:pPr>
            <a:r>
              <a:rPr sz="1800" b="1">
                <a:solidFill>
                  <a:srgbClr val="FFFFFF"/>
                </a:solidFill>
                <a:latin typeface="Calibri"/>
              </a:rPr>
              <a:t>Nov 20 to Dec 8</a:t>
            </a:r>
          </a:p>
        </p:txBody>
      </p:sp>
      <p:sp>
        <p:nvSpPr>
          <p:cNvPr id="10" name="TextBox 9"/>
          <p:cNvSpPr txBox="1"/>
          <p:nvPr/>
        </p:nvSpPr>
        <p:spPr>
          <a:xfrm>
            <a:off x="3200400" y="2606040"/>
            <a:ext cx="4846320" cy="822960"/>
          </a:xfrm>
          <a:prstGeom prst="rect">
            <a:avLst/>
          </a:prstGeom>
          <a:noFill/>
        </p:spPr>
        <p:txBody>
          <a:bodyPr wrap="square" anchor="ctr" lIns="45720" rIns="45720" tIns="27432" bIns="27432">
            <a:spAutoFit/>
          </a:bodyPr>
          <a:lstStyle/>
          <a:p>
            <a:pPr algn="l">
              <a:spcAft>
                <a:spcPts val="800"/>
              </a:spcAft>
            </a:pPr>
            <a:r>
              <a:rPr sz="1600" b="0">
                <a:solidFill>
                  <a:srgbClr val="222222"/>
                </a:solidFill>
                <a:latin typeface="Calibri"/>
              </a:rPr>
              <a:t>HIP ports, AMD tables, measured MI100/MI210 runs, plug into training and check the loss curve</a:t>
            </a:r>
          </a:p>
        </p:txBody>
      </p:sp>
      <p:sp>
        <p:nvSpPr>
          <p:cNvPr id="11" name="Rounded Rectangle 10"/>
          <p:cNvSpPr/>
          <p:nvPr/>
        </p:nvSpPr>
        <p:spPr>
          <a:xfrm>
            <a:off x="640080" y="3520440"/>
            <a:ext cx="2377440" cy="731520"/>
          </a:xfrm>
          <a:prstGeom prst="roundRect">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2377440" cy="731520"/>
          </a:xfrm>
          <a:prstGeom prst="rect">
            <a:avLst/>
          </a:prstGeom>
          <a:noFill/>
        </p:spPr>
        <p:txBody>
          <a:bodyPr wrap="square" anchor="ctr" lIns="45720" rIns="45720" tIns="27432" bIns="27432">
            <a:spAutoFit/>
          </a:bodyPr>
          <a:lstStyle/>
          <a:p>
            <a:pPr algn="ctr">
              <a:spcAft>
                <a:spcPts val="800"/>
              </a:spcAft>
            </a:pPr>
            <a:r>
              <a:rPr sz="1800" b="1">
                <a:solidFill>
                  <a:srgbClr val="FFFFFF"/>
                </a:solidFill>
                <a:latin typeface="Calibri"/>
              </a:rPr>
              <a:t>Dec 8</a:t>
            </a:r>
          </a:p>
        </p:txBody>
      </p:sp>
      <p:sp>
        <p:nvSpPr>
          <p:cNvPr id="13" name="TextBox 12"/>
          <p:cNvSpPr txBox="1"/>
          <p:nvPr/>
        </p:nvSpPr>
        <p:spPr>
          <a:xfrm>
            <a:off x="3200400" y="3520440"/>
            <a:ext cx="4846320" cy="822960"/>
          </a:xfrm>
          <a:prstGeom prst="rect">
            <a:avLst/>
          </a:prstGeom>
          <a:noFill/>
        </p:spPr>
        <p:txBody>
          <a:bodyPr wrap="square" anchor="ctr" lIns="45720" rIns="45720" tIns="27432" bIns="27432">
            <a:spAutoFit/>
          </a:bodyPr>
          <a:lstStyle/>
          <a:p>
            <a:pPr algn="l">
              <a:spcAft>
                <a:spcPts val="800"/>
              </a:spcAft>
            </a:pPr>
            <a:r>
              <a:rPr sz="1600" b="0">
                <a:solidFill>
                  <a:srgbClr val="222222"/>
                </a:solidFill>
                <a:latin typeface="Calibri"/>
              </a:rPr>
              <a:t>Code freeze, then final measurements</a:t>
            </a:r>
          </a:p>
        </p:txBody>
      </p:sp>
      <p:sp>
        <p:nvSpPr>
          <p:cNvPr id="14" name="Rounded Rectangle 13"/>
          <p:cNvSpPr/>
          <p:nvPr/>
        </p:nvSpPr>
        <p:spPr>
          <a:xfrm>
            <a:off x="640080" y="4434840"/>
            <a:ext cx="2377440" cy="731520"/>
          </a:xfrm>
          <a:prstGeom prst="roundRect">
            <a:avLst/>
          </a:prstGeom>
          <a:solidFill>
            <a:srgbClr val="2A7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434840"/>
            <a:ext cx="2377440" cy="731520"/>
          </a:xfrm>
          <a:prstGeom prst="rect">
            <a:avLst/>
          </a:prstGeom>
          <a:noFill/>
        </p:spPr>
        <p:txBody>
          <a:bodyPr wrap="square" anchor="ctr" lIns="45720" rIns="45720" tIns="27432" bIns="27432">
            <a:spAutoFit/>
          </a:bodyPr>
          <a:lstStyle/>
          <a:p>
            <a:pPr algn="ctr">
              <a:spcAft>
                <a:spcPts val="800"/>
              </a:spcAft>
            </a:pPr>
            <a:r>
              <a:rPr sz="1800" b="1">
                <a:solidFill>
                  <a:srgbClr val="FFFFFF"/>
                </a:solidFill>
                <a:latin typeface="Calibri"/>
              </a:rPr>
              <a:t>Dec 17</a:t>
            </a:r>
          </a:p>
        </p:txBody>
      </p:sp>
      <p:sp>
        <p:nvSpPr>
          <p:cNvPr id="16" name="TextBox 15"/>
          <p:cNvSpPr txBox="1"/>
          <p:nvPr/>
        </p:nvSpPr>
        <p:spPr>
          <a:xfrm>
            <a:off x="3200400" y="4434840"/>
            <a:ext cx="4846320" cy="822960"/>
          </a:xfrm>
          <a:prstGeom prst="rect">
            <a:avLst/>
          </a:prstGeom>
          <a:noFill/>
        </p:spPr>
        <p:txBody>
          <a:bodyPr wrap="square" anchor="ctr" lIns="45720" rIns="45720" tIns="27432" bIns="27432">
            <a:spAutoFit/>
          </a:bodyPr>
          <a:lstStyle/>
          <a:p>
            <a:pPr algn="l">
              <a:spcAft>
                <a:spcPts val="800"/>
              </a:spcAft>
            </a:pPr>
            <a:r>
              <a:rPr sz="1600" b="0">
                <a:solidFill>
                  <a:srgbClr val="222222"/>
                </a:solidFill>
                <a:latin typeface="Calibri"/>
              </a:rPr>
              <a:t>Presentation 2: results</a:t>
            </a:r>
          </a:p>
        </p:txBody>
      </p:sp>
      <p:sp>
        <p:nvSpPr>
          <p:cNvPr id="17" name="Rounded Rectangle 16"/>
          <p:cNvSpPr/>
          <p:nvPr/>
        </p:nvSpPr>
        <p:spPr>
          <a:xfrm>
            <a:off x="8412480" y="1691640"/>
            <a:ext cx="3291840" cy="182880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1737360"/>
            <a:ext cx="3108960" cy="457200"/>
          </a:xfrm>
          <a:prstGeom prst="rect">
            <a:avLst/>
          </a:prstGeom>
          <a:noFill/>
        </p:spPr>
        <p:txBody>
          <a:bodyPr wrap="square" anchor="t" lIns="45720" rIns="45720" tIns="27432" bIns="27432">
            <a:spAutoFit/>
          </a:bodyPr>
          <a:lstStyle/>
          <a:p>
            <a:pPr algn="l">
              <a:spcAft>
                <a:spcPts val="800"/>
              </a:spcAft>
            </a:pPr>
            <a:r>
              <a:rPr sz="2000" b="1">
                <a:solidFill>
                  <a:srgbClr val="142B4D"/>
                </a:solidFill>
                <a:latin typeface="Calibri"/>
              </a:rPr>
              <a:t>Budget</a:t>
            </a:r>
          </a:p>
        </p:txBody>
      </p:sp>
      <p:sp>
        <p:nvSpPr>
          <p:cNvPr id="19" name="TextBox 18"/>
          <p:cNvSpPr txBox="1"/>
          <p:nvPr/>
        </p:nvSpPr>
        <p:spPr>
          <a:xfrm>
            <a:off x="8503920" y="2240280"/>
            <a:ext cx="3108960" cy="1188720"/>
          </a:xfrm>
          <a:prstGeom prst="rect">
            <a:avLst/>
          </a:prstGeom>
          <a:noFill/>
        </p:spPr>
        <p:txBody>
          <a:bodyPr wrap="square" anchor="t" lIns="45720" rIns="45720" tIns="27432" bIns="27432">
            <a:spAutoFit/>
          </a:bodyPr>
          <a:lstStyle/>
          <a:p>
            <a:pPr algn="l">
              <a:spcAft>
                <a:spcPts val="800"/>
              </a:spcAft>
            </a:pPr>
            <a:r>
              <a:rPr sz="1600" b="0">
                <a:solidFill>
                  <a:srgbClr val="222222"/>
                </a:solidFill>
                <a:latin typeface="Calibri"/>
              </a:rPr>
              <a:t>About 0.85 of 25 planned</a:t>
            </a:r>
          </a:p>
          <a:p>
            <a:pPr algn="l">
              <a:spcAft>
                <a:spcPts val="800"/>
              </a:spcAft>
            </a:pPr>
            <a:r>
              <a:rPr sz="1600" b="0">
                <a:solidFill>
                  <a:srgbClr val="222222"/>
                </a:solidFill>
                <a:latin typeface="Calibri"/>
              </a:rPr>
              <a:t>service units (SU) used</a:t>
            </a:r>
          </a:p>
        </p:txBody>
      </p:sp>
      <p:sp>
        <p:nvSpPr>
          <p:cNvPr id="20" name="Rounded Rectangle 19"/>
          <p:cNvSpPr/>
          <p:nvPr/>
        </p:nvSpPr>
        <p:spPr>
          <a:xfrm>
            <a:off x="8412480" y="3703320"/>
            <a:ext cx="3291840" cy="219456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3749039"/>
            <a:ext cx="3108960" cy="457200"/>
          </a:xfrm>
          <a:prstGeom prst="rect">
            <a:avLst/>
          </a:prstGeom>
          <a:noFill/>
        </p:spPr>
        <p:txBody>
          <a:bodyPr wrap="square" anchor="t" lIns="45720" rIns="45720" tIns="27432" bIns="27432">
            <a:spAutoFit/>
          </a:bodyPr>
          <a:lstStyle/>
          <a:p>
            <a:pPr algn="l">
              <a:spcAft>
                <a:spcPts val="800"/>
              </a:spcAft>
            </a:pPr>
            <a:r>
              <a:rPr sz="2000" b="1">
                <a:solidFill>
                  <a:srgbClr val="142B4D"/>
                </a:solidFill>
                <a:latin typeface="Calibri"/>
              </a:rPr>
              <a:t>Main risk</a:t>
            </a:r>
          </a:p>
        </p:txBody>
      </p:sp>
      <p:sp>
        <p:nvSpPr>
          <p:cNvPr id="22" name="TextBox 21"/>
          <p:cNvSpPr txBox="1"/>
          <p:nvPr/>
        </p:nvSpPr>
        <p:spPr>
          <a:xfrm>
            <a:off x="8503920" y="4251960"/>
            <a:ext cx="3108960" cy="1645920"/>
          </a:xfrm>
          <a:prstGeom prst="rect">
            <a:avLst/>
          </a:prstGeom>
          <a:noFill/>
        </p:spPr>
        <p:txBody>
          <a:bodyPr wrap="square" anchor="t" lIns="45720" rIns="45720" tIns="27432" bIns="27432">
            <a:spAutoFit/>
          </a:bodyPr>
          <a:lstStyle/>
          <a:p>
            <a:pPr algn="l">
              <a:spcAft>
                <a:spcPts val="800"/>
              </a:spcAft>
            </a:pPr>
            <a:r>
              <a:rPr sz="1600" b="0">
                <a:solidFill>
                  <a:srgbClr val="222222"/>
                </a:solidFill>
                <a:latin typeface="Calibri"/>
              </a:rPr>
              <a:t>AMD node in maintenance. Fallback: static AMDGCN analysis, already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20040"/>
            <a:ext cx="11094415" cy="1051560"/>
          </a:xfrm>
          <a:prstGeom prst="rect">
            <a:avLst/>
          </a:prstGeom>
          <a:noFill/>
        </p:spPr>
        <p:txBody>
          <a:bodyPr wrap="square" anchor="ctr" lIns="45720" rIns="45720" tIns="27432" bIns="27432">
            <a:spAutoFit/>
          </a:bodyPr>
          <a:lstStyle/>
          <a:p>
            <a:pPr algn="l">
              <a:spcAft>
                <a:spcPts val="800"/>
              </a:spcAft>
            </a:pPr>
            <a:r>
              <a:rPr sz="3000" b="1">
                <a:solidFill>
                  <a:srgbClr val="142B4D"/>
                </a:solidFill>
                <a:latin typeface="Calibri"/>
              </a:rPr>
              <a:t>Backup: terms and numbers</a:t>
            </a:r>
          </a:p>
        </p:txBody>
      </p:sp>
      <p:sp>
        <p:nvSpPr>
          <p:cNvPr id="3" name="TextBox 2"/>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800"/>
              </a:spcAft>
            </a:pPr>
            <a:r>
              <a:rPr sz="1100" b="0">
                <a:solidFill>
                  <a:srgbClr val="666666"/>
                </a:solidFill>
                <a:latin typeface="Calibri"/>
              </a:rPr>
              <a:t>CISC662 | Optimizing nanochat down to the assembly level</a:t>
            </a:r>
          </a:p>
        </p:txBody>
      </p:sp>
      <p:sp>
        <p:nvSpPr>
          <p:cNvPr id="4" name="TextBox 3"/>
          <p:cNvSpPr txBox="1"/>
          <p:nvPr/>
        </p:nvSpPr>
        <p:spPr>
          <a:xfrm>
            <a:off x="10911535" y="6446520"/>
            <a:ext cx="731520" cy="274320"/>
          </a:xfrm>
          <a:prstGeom prst="rect">
            <a:avLst/>
          </a:prstGeom>
          <a:noFill/>
        </p:spPr>
        <p:txBody>
          <a:bodyPr wrap="square" anchor="t" lIns="45720" rIns="45720" tIns="27432" bIns="27432">
            <a:spAutoFit/>
          </a:bodyPr>
          <a:lstStyle/>
          <a:p>
            <a:pPr algn="r">
              <a:spcAft>
                <a:spcPts val="800"/>
              </a:spcAft>
            </a:pPr>
            <a:r>
              <a:rPr sz="1100" b="0">
                <a:solidFill>
                  <a:srgbClr val="666666"/>
                </a:solidFill>
                <a:latin typeface="Calibri"/>
              </a:rPr>
              <a:t>9</a:t>
            </a:r>
          </a:p>
        </p:txBody>
      </p:sp>
      <p:sp>
        <p:nvSpPr>
          <p:cNvPr id="5" name="TextBox 4"/>
          <p:cNvSpPr txBox="1"/>
          <p:nvPr/>
        </p:nvSpPr>
        <p:spPr>
          <a:xfrm>
            <a:off x="640080" y="1645920"/>
            <a:ext cx="2743200" cy="640080"/>
          </a:xfrm>
          <a:prstGeom prst="rect">
            <a:avLst/>
          </a:prstGeom>
          <a:noFill/>
        </p:spPr>
        <p:txBody>
          <a:bodyPr wrap="square" anchor="t" lIns="45720" rIns="45720" tIns="27432" bIns="27432">
            <a:spAutoFit/>
          </a:bodyPr>
          <a:lstStyle/>
          <a:p>
            <a:pPr algn="l">
              <a:spcAft>
                <a:spcPts val="800"/>
              </a:spcAft>
            </a:pPr>
            <a:r>
              <a:rPr sz="1800" b="1">
                <a:solidFill>
                  <a:srgbClr val="142B4D"/>
                </a:solidFill>
                <a:latin typeface="Calibri"/>
              </a:rPr>
              <a:t>MUFU</a:t>
            </a:r>
          </a:p>
        </p:txBody>
      </p:sp>
      <p:sp>
        <p:nvSpPr>
          <p:cNvPr id="6" name="TextBox 5"/>
          <p:cNvSpPr txBox="1"/>
          <p:nvPr/>
        </p:nvSpPr>
        <p:spPr>
          <a:xfrm>
            <a:off x="3474720" y="1645920"/>
            <a:ext cx="8229600" cy="640080"/>
          </a:xfrm>
          <a:prstGeom prst="rect">
            <a:avLst/>
          </a:prstGeom>
          <a:noFill/>
        </p:spPr>
        <p:txBody>
          <a:bodyPr wrap="square" anchor="t" lIns="45720" rIns="45720" tIns="27432" bIns="27432">
            <a:spAutoFit/>
          </a:bodyPr>
          <a:lstStyle/>
          <a:p>
            <a:pPr algn="l">
              <a:spcAft>
                <a:spcPts val="800"/>
              </a:spcAft>
            </a:pPr>
            <a:r>
              <a:rPr sz="1700" b="0">
                <a:solidFill>
                  <a:srgbClr val="222222"/>
                </a:solidFill>
                <a:latin typeface="Calibri"/>
              </a:rPr>
              <a:t>special-function unit: exp, reciprocal, tanh hardware</a:t>
            </a:r>
          </a:p>
        </p:txBody>
      </p:sp>
      <p:sp>
        <p:nvSpPr>
          <p:cNvPr id="7" name="TextBox 6"/>
          <p:cNvSpPr txBox="1"/>
          <p:nvPr/>
        </p:nvSpPr>
        <p:spPr>
          <a:xfrm>
            <a:off x="640080" y="2395728"/>
            <a:ext cx="2743200" cy="640080"/>
          </a:xfrm>
          <a:prstGeom prst="rect">
            <a:avLst/>
          </a:prstGeom>
          <a:noFill/>
        </p:spPr>
        <p:txBody>
          <a:bodyPr wrap="square" anchor="t" lIns="45720" rIns="45720" tIns="27432" bIns="27432">
            <a:spAutoFit/>
          </a:bodyPr>
          <a:lstStyle/>
          <a:p>
            <a:pPr algn="l">
              <a:spcAft>
                <a:spcPts val="800"/>
              </a:spcAft>
            </a:pPr>
            <a:r>
              <a:rPr sz="1800" b="1">
                <a:solidFill>
                  <a:srgbClr val="142B4D"/>
                </a:solidFill>
                <a:latin typeface="Calibri"/>
              </a:rPr>
              <a:t>ISA / SASS / PTX</a:t>
            </a:r>
          </a:p>
        </p:txBody>
      </p:sp>
      <p:sp>
        <p:nvSpPr>
          <p:cNvPr id="8" name="TextBox 7"/>
          <p:cNvSpPr txBox="1"/>
          <p:nvPr/>
        </p:nvSpPr>
        <p:spPr>
          <a:xfrm>
            <a:off x="3474720" y="2395728"/>
            <a:ext cx="8229600" cy="640080"/>
          </a:xfrm>
          <a:prstGeom prst="rect">
            <a:avLst/>
          </a:prstGeom>
          <a:noFill/>
        </p:spPr>
        <p:txBody>
          <a:bodyPr wrap="square" anchor="t" lIns="45720" rIns="45720" tIns="27432" bIns="27432">
            <a:spAutoFit/>
          </a:bodyPr>
          <a:lstStyle/>
          <a:p>
            <a:pPr algn="l">
              <a:spcAft>
                <a:spcPts val="800"/>
              </a:spcAft>
            </a:pPr>
            <a:r>
              <a:rPr sz="1700" b="0">
                <a:solidFill>
                  <a:srgbClr val="222222"/>
                </a:solidFill>
                <a:latin typeface="Calibri"/>
              </a:rPr>
              <a:t>machine code; SASS is NVIDIA's real code, PTX the portable layer</a:t>
            </a:r>
          </a:p>
        </p:txBody>
      </p:sp>
      <p:sp>
        <p:nvSpPr>
          <p:cNvPr id="9" name="TextBox 8"/>
          <p:cNvSpPr txBox="1"/>
          <p:nvPr/>
        </p:nvSpPr>
        <p:spPr>
          <a:xfrm>
            <a:off x="640080" y="3145536"/>
            <a:ext cx="2743200" cy="640080"/>
          </a:xfrm>
          <a:prstGeom prst="rect">
            <a:avLst/>
          </a:prstGeom>
          <a:noFill/>
        </p:spPr>
        <p:txBody>
          <a:bodyPr wrap="square" anchor="t" lIns="45720" rIns="45720" tIns="27432" bIns="27432">
            <a:spAutoFit/>
          </a:bodyPr>
          <a:lstStyle/>
          <a:p>
            <a:pPr algn="l">
              <a:spcAft>
                <a:spcPts val="800"/>
              </a:spcAft>
            </a:pPr>
            <a:r>
              <a:rPr sz="1800" b="1">
                <a:solidFill>
                  <a:srgbClr val="142B4D"/>
                </a:solidFill>
                <a:latin typeface="Calibri"/>
              </a:rPr>
              <a:t>AMDGCN</a:t>
            </a:r>
          </a:p>
        </p:txBody>
      </p:sp>
      <p:sp>
        <p:nvSpPr>
          <p:cNvPr id="10" name="TextBox 9"/>
          <p:cNvSpPr txBox="1"/>
          <p:nvPr/>
        </p:nvSpPr>
        <p:spPr>
          <a:xfrm>
            <a:off x="3474720" y="3145536"/>
            <a:ext cx="8229600" cy="640080"/>
          </a:xfrm>
          <a:prstGeom prst="rect">
            <a:avLst/>
          </a:prstGeom>
          <a:noFill/>
        </p:spPr>
        <p:txBody>
          <a:bodyPr wrap="square" anchor="t" lIns="45720" rIns="45720" tIns="27432" bIns="27432">
            <a:spAutoFit/>
          </a:bodyPr>
          <a:lstStyle/>
          <a:p>
            <a:pPr algn="l">
              <a:spcAft>
                <a:spcPts val="800"/>
              </a:spcAft>
            </a:pPr>
            <a:r>
              <a:rPr sz="1700" b="0">
                <a:solidFill>
                  <a:srgbClr val="222222"/>
                </a:solidFill>
                <a:latin typeface="Calibri"/>
              </a:rPr>
              <a:t>AMD's machine code; 64-thread wavefronts, MFMA matrix instructions</a:t>
            </a:r>
          </a:p>
        </p:txBody>
      </p:sp>
      <p:sp>
        <p:nvSpPr>
          <p:cNvPr id="11" name="TextBox 10"/>
          <p:cNvSpPr txBox="1"/>
          <p:nvPr/>
        </p:nvSpPr>
        <p:spPr>
          <a:xfrm>
            <a:off x="640080" y="3895344"/>
            <a:ext cx="2743200" cy="640080"/>
          </a:xfrm>
          <a:prstGeom prst="rect">
            <a:avLst/>
          </a:prstGeom>
          <a:noFill/>
        </p:spPr>
        <p:txBody>
          <a:bodyPr wrap="square" anchor="t" lIns="45720" rIns="45720" tIns="27432" bIns="27432">
            <a:spAutoFit/>
          </a:bodyPr>
          <a:lstStyle/>
          <a:p>
            <a:pPr algn="l">
              <a:spcAft>
                <a:spcPts val="800"/>
              </a:spcAft>
            </a:pPr>
            <a:r>
              <a:rPr sz="1800" b="1">
                <a:solidFill>
                  <a:srgbClr val="142B4D"/>
                </a:solidFill>
                <a:latin typeface="Calibri"/>
              </a:rPr>
              <a:t>Roofline</a:t>
            </a:r>
          </a:p>
        </p:txBody>
      </p:sp>
      <p:sp>
        <p:nvSpPr>
          <p:cNvPr id="12" name="TextBox 11"/>
          <p:cNvSpPr txBox="1"/>
          <p:nvPr/>
        </p:nvSpPr>
        <p:spPr>
          <a:xfrm>
            <a:off x="3474720" y="3895344"/>
            <a:ext cx="8229600" cy="640080"/>
          </a:xfrm>
          <a:prstGeom prst="rect">
            <a:avLst/>
          </a:prstGeom>
          <a:noFill/>
        </p:spPr>
        <p:txBody>
          <a:bodyPr wrap="square" anchor="t" lIns="45720" rIns="45720" tIns="27432" bIns="27432">
            <a:spAutoFit/>
          </a:bodyPr>
          <a:lstStyle/>
          <a:p>
            <a:pPr algn="l">
              <a:spcAft>
                <a:spcPts val="800"/>
              </a:spcAft>
            </a:pPr>
            <a:r>
              <a:rPr sz="1700" b="0">
                <a:solidFill>
                  <a:srgbClr val="222222"/>
                </a:solidFill>
                <a:latin typeface="Calibri"/>
              </a:rPr>
              <a:t>chart of achieved speed against the memory and compute limits</a:t>
            </a:r>
          </a:p>
        </p:txBody>
      </p:sp>
      <p:sp>
        <p:nvSpPr>
          <p:cNvPr id="13" name="TextBox 12"/>
          <p:cNvSpPr txBox="1"/>
          <p:nvPr/>
        </p:nvSpPr>
        <p:spPr>
          <a:xfrm>
            <a:off x="640080" y="4645152"/>
            <a:ext cx="2743200" cy="640080"/>
          </a:xfrm>
          <a:prstGeom prst="rect">
            <a:avLst/>
          </a:prstGeom>
          <a:noFill/>
        </p:spPr>
        <p:txBody>
          <a:bodyPr wrap="square" anchor="t" lIns="45720" rIns="45720" tIns="27432" bIns="27432">
            <a:spAutoFit/>
          </a:bodyPr>
          <a:lstStyle/>
          <a:p>
            <a:pPr algn="l">
              <a:spcAft>
                <a:spcPts val="800"/>
              </a:spcAft>
            </a:pPr>
            <a:r>
              <a:rPr sz="1800" b="1">
                <a:solidFill>
                  <a:srgbClr val="142B4D"/>
                </a:solidFill>
                <a:latin typeface="Calibri"/>
              </a:rPr>
              <a:t>Gates G1 / G2</a:t>
            </a:r>
          </a:p>
        </p:txBody>
      </p:sp>
      <p:sp>
        <p:nvSpPr>
          <p:cNvPr id="14" name="TextBox 13"/>
          <p:cNvSpPr txBox="1"/>
          <p:nvPr/>
        </p:nvSpPr>
        <p:spPr>
          <a:xfrm>
            <a:off x="3474720" y="4645152"/>
            <a:ext cx="8229600" cy="640080"/>
          </a:xfrm>
          <a:prstGeom prst="rect">
            <a:avLst/>
          </a:prstGeom>
          <a:noFill/>
        </p:spPr>
        <p:txBody>
          <a:bodyPr wrap="square" anchor="t" lIns="45720" rIns="45720" tIns="27432" bIns="27432">
            <a:spAutoFit/>
          </a:bodyPr>
          <a:lstStyle/>
          <a:p>
            <a:pPr algn="l">
              <a:spcAft>
                <a:spcPts val="800"/>
              </a:spcAft>
            </a:pPr>
            <a:r>
              <a:rPr sz="1700" b="0">
                <a:solidFill>
                  <a:srgbClr val="222222"/>
                </a:solidFill>
                <a:latin typeface="Calibri"/>
              </a:rPr>
              <a:t>value and gradient correctness against a 64-bit reference</a:t>
            </a:r>
          </a:p>
        </p:txBody>
      </p:sp>
      <p:sp>
        <p:nvSpPr>
          <p:cNvPr id="15" name="TextBox 14"/>
          <p:cNvSpPr txBox="1"/>
          <p:nvPr/>
        </p:nvSpPr>
        <p:spPr>
          <a:xfrm>
            <a:off x="640080" y="5394959"/>
            <a:ext cx="2743200" cy="640080"/>
          </a:xfrm>
          <a:prstGeom prst="rect">
            <a:avLst/>
          </a:prstGeom>
          <a:noFill/>
        </p:spPr>
        <p:txBody>
          <a:bodyPr wrap="square" anchor="t" lIns="45720" rIns="45720" tIns="27432" bIns="27432">
            <a:spAutoFit/>
          </a:bodyPr>
          <a:lstStyle/>
          <a:p>
            <a:pPr algn="l">
              <a:spcAft>
                <a:spcPts val="800"/>
              </a:spcAft>
            </a:pPr>
            <a:r>
              <a:rPr sz="1800" b="1">
                <a:solidFill>
                  <a:srgbClr val="142B4D"/>
                </a:solidFill>
                <a:latin typeface="Calibri"/>
              </a:rPr>
              <a:t>R12</a:t>
            </a:r>
          </a:p>
        </p:txBody>
      </p:sp>
      <p:sp>
        <p:nvSpPr>
          <p:cNvPr id="16" name="TextBox 15"/>
          <p:cNvSpPr txBox="1"/>
          <p:nvPr/>
        </p:nvSpPr>
        <p:spPr>
          <a:xfrm>
            <a:off x="3474720" y="5394959"/>
            <a:ext cx="8229600" cy="640080"/>
          </a:xfrm>
          <a:prstGeom prst="rect">
            <a:avLst/>
          </a:prstGeom>
          <a:noFill/>
        </p:spPr>
        <p:txBody>
          <a:bodyPr wrap="square" anchor="t" lIns="45720" rIns="45720" tIns="27432" bIns="27432">
            <a:spAutoFit/>
          </a:bodyPr>
          <a:lstStyle/>
          <a:p>
            <a:pPr algn="l">
              <a:spcAft>
                <a:spcPts val="800"/>
              </a:spcAft>
            </a:pPr>
            <a:r>
              <a:rPr sz="1700" b="0">
                <a:solidFill>
                  <a:srgbClr val="222222"/>
                </a:solidFill>
                <a:latin typeface="Calibri"/>
              </a:rPr>
              <a:t>the test setup: 12 layers, sequence 2048, 32k tokens per step, bf16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